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8831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sv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sv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svg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3.pn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EC9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EC9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-1"/>
            <a:ext cx="4143970" cy="4564337"/>
          </a:xfrm>
          <a:prstGeom prst="rect">
            <a:avLst/>
          </a:prstGeom>
          <a:gradFill rotWithShape="1">
            <a:gsLst>
              <a:gs pos="0">
                <a:srgbClr val="1EC9C9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28750" y="2857500"/>
            <a:ext cx="3572470" cy="2286000"/>
          </a:xfrm>
          <a:prstGeom prst="rect">
            <a:avLst/>
          </a:prstGeom>
          <a:gradFill rotWithShape="1">
            <a:gsLst>
              <a:gs pos="0">
                <a:srgbClr val="E8A427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685800"/>
            <a:ext cx="21580" cy="37719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1EC9C9"/>
              </a:gs>
              <a:gs pos="70000">
                <a:srgbClr val="E8A427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1EC9C9"/>
              </a:gs>
              <a:gs pos="50000">
                <a:srgbClr val="E8A42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0" y="5129659"/>
            <a:ext cx="914400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0F7E8A"/>
              </a:gs>
              <a:gs pos="70000">
                <a:srgbClr val="E8A42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1038" y="457200"/>
            <a:ext cx="385763" cy="428625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alphaModFix amt="3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43938" y="285750"/>
            <a:ext cx="214313" cy="2143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935921"/>
            <a:ext cx="297610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30" dirty="0">
                <a:solidFill>
                  <a:srgbClr val="1EC9C9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 FRAMEWORK</a:t>
            </a:r>
            <a:endParaRPr lang="en-US" sz="730" dirty="0"/>
          </a:p>
        </p:txBody>
      </p:sp>
      <p:sp>
        <p:nvSpPr>
          <p:cNvPr id="12" name="Text 8"/>
          <p:cNvSpPr/>
          <p:nvPr/>
        </p:nvSpPr>
        <p:spPr>
          <a:xfrm>
            <a:off x="685800" y="1134576"/>
            <a:ext cx="4596714" cy="1933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spcAft>
                <a:spcPts val="1350"/>
              </a:spcAft>
              <a:buNone/>
            </a:pPr>
            <a:r>
              <a:rPr lang="en-US" sz="5400" kern="0" spc="-60" dirty="0">
                <a:solidFill>
                  <a:srgbClr val="FFFFFF"/>
                </a:solidFill>
                <a:effectLst>
                  <a:glow rad="1428750">
                    <a:srgbClr val="1EC9C9">
                      <a:alpha val="36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BINARY DECISION</a:t>
            </a:r>
            <a:br>
              <a:rPr dirty="0"/>
            </a:br>
            <a:r>
              <a:rPr lang="en-US" sz="5400" kern="0" spc="-60" dirty="0">
                <a:solidFill>
                  <a:srgbClr val="FFFFFF"/>
                </a:solidFill>
                <a:effectLst>
                  <a:glow rad="1428750">
                    <a:srgbClr val="1EC9C9">
                      <a:alpha val="36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PATH</a:t>
            </a:r>
            <a:endParaRPr lang="en-US" sz="5400" dirty="0"/>
          </a:p>
        </p:txBody>
      </p:sp>
      <p:sp>
        <p:nvSpPr>
          <p:cNvPr id="13" name="Text 9"/>
          <p:cNvSpPr/>
          <p:nvPr/>
        </p:nvSpPr>
        <p:spPr>
          <a:xfrm>
            <a:off x="685800" y="3391539"/>
            <a:ext cx="5570220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580" kern="0" spc="80" dirty="0">
                <a:solidFill>
                  <a:srgbClr val="E8A4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Simple Framework for Better Decision Making and Consensus </a:t>
            </a:r>
            <a:endParaRPr lang="en-US" sz="1580" dirty="0"/>
          </a:p>
        </p:txBody>
      </p:sp>
      <p:sp>
        <p:nvSpPr>
          <p:cNvPr id="14" name="Text 10"/>
          <p:cNvSpPr/>
          <p:nvPr/>
        </p:nvSpPr>
        <p:spPr>
          <a:xfrm>
            <a:off x="685800" y="3911725"/>
            <a:ext cx="342900" cy="7590"/>
          </a:xfrm>
          <a:prstGeom prst="rect">
            <a:avLst/>
          </a:prstGeom>
          <a:solidFill>
            <a:srgbClr val="8FAFC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 rot="2700000">
            <a:off x="1115020" y="3894014"/>
            <a:ext cx="43160" cy="43160"/>
          </a:xfrm>
          <a:prstGeom prst="rect">
            <a:avLst/>
          </a:pr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1244501" y="3911725"/>
            <a:ext cx="342900" cy="7590"/>
          </a:xfrm>
          <a:prstGeom prst="rect">
            <a:avLst/>
          </a:prstGeom>
          <a:solidFill>
            <a:srgbClr val="8FAFC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85800" y="4131620"/>
            <a:ext cx="2155475" cy="383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i="1" kern="0" spc="30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</a:t>
            </a:r>
            <a:r>
              <a:rPr lang="en-US" sz="900" i="1" kern="0" spc="30" dirty="0" err="1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TranZen</a:t>
            </a:r>
            <a:br>
              <a:rPr dirty="0"/>
            </a:br>
            <a:r>
              <a:rPr lang="en-US" sz="900" i="1" kern="0" spc="30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TranZenStudio.com</a:t>
            </a:r>
            <a:endParaRPr lang="en-US" sz="900" dirty="0"/>
          </a:p>
        </p:txBody>
      </p:sp>
      <p:pic>
        <p:nvPicPr>
          <p:cNvPr id="18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8586" y="3757017"/>
            <a:ext cx="1071563" cy="10715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E8A427"/>
              </a:gs>
              <a:gs pos="50000">
                <a:srgbClr val="1A7A82"/>
              </a:gs>
              <a:gs pos="100000">
                <a:srgbClr val="E8A427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2070" y="157460"/>
            <a:ext cx="106346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40" dirty="0">
                <a:solidFill>
                  <a:srgbClr val="5A7A99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PATH</a:t>
            </a:r>
            <a:endParaRPr lang="en-US" sz="620" dirty="0"/>
          </a:p>
        </p:txBody>
      </p:sp>
      <p:sp>
        <p:nvSpPr>
          <p:cNvPr id="4" name="Text 2"/>
          <p:cNvSpPr/>
          <p:nvPr/>
        </p:nvSpPr>
        <p:spPr>
          <a:xfrm>
            <a:off x="4351586" y="4901803"/>
            <a:ext cx="35421" cy="35421"/>
          </a:xfrm>
          <a:prstGeom prst="ellipse">
            <a:avLst/>
          </a:prstGeom>
          <a:solidFill>
            <a:srgbClr val="1A7A82">
              <a:alpha val="3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94495" y="2896642"/>
            <a:ext cx="2124666" cy="21580"/>
          </a:xfrm>
          <a:custGeom>
            <a:avLst/>
            <a:gdLst/>
            <a:ahLst/>
            <a:cxnLst/>
            <a:rect l="l" t="t" r="r" b="b"/>
            <a:pathLst>
              <a:path w="2124666" h="21580">
                <a:moveTo>
                  <a:pt x="100330" y="0"/>
                </a:moveTo>
                <a:lnTo>
                  <a:pt x="2024336" y="0"/>
                </a:lnTo>
                <a:lnTo>
                  <a:pt x="2047444" y="2698"/>
                </a:lnTo>
                <a:lnTo>
                  <a:pt x="2056793" y="5395"/>
                </a:lnTo>
                <a:lnTo>
                  <a:pt x="2063812" y="8093"/>
                </a:lnTo>
                <a:lnTo>
                  <a:pt x="2069598" y="10790"/>
                </a:lnTo>
                <a:lnTo>
                  <a:pt x="2074580" y="13488"/>
                </a:lnTo>
                <a:lnTo>
                  <a:pt x="2078978" y="16185"/>
                </a:lnTo>
                <a:lnTo>
                  <a:pt x="2082923" y="18883"/>
                </a:lnTo>
                <a:lnTo>
                  <a:pt x="2086501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09665" y="2896642"/>
            <a:ext cx="2124666" cy="21580"/>
          </a:xfrm>
          <a:custGeom>
            <a:avLst/>
            <a:gdLst/>
            <a:ahLst/>
            <a:cxnLst/>
            <a:rect l="l" t="t" r="r" b="b"/>
            <a:pathLst>
              <a:path w="2124666" h="21580">
                <a:moveTo>
                  <a:pt x="100330" y="0"/>
                </a:moveTo>
                <a:lnTo>
                  <a:pt x="2024336" y="0"/>
                </a:lnTo>
                <a:lnTo>
                  <a:pt x="2047444" y="2698"/>
                </a:lnTo>
                <a:lnTo>
                  <a:pt x="2056793" y="5395"/>
                </a:lnTo>
                <a:lnTo>
                  <a:pt x="2063812" y="8093"/>
                </a:lnTo>
                <a:lnTo>
                  <a:pt x="2069598" y="10790"/>
                </a:lnTo>
                <a:lnTo>
                  <a:pt x="2074580" y="13488"/>
                </a:lnTo>
                <a:lnTo>
                  <a:pt x="2078978" y="16185"/>
                </a:lnTo>
                <a:lnTo>
                  <a:pt x="2082923" y="18883"/>
                </a:lnTo>
                <a:lnTo>
                  <a:pt x="2086501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solidFill>
            <a:srgbClr val="1A7A8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24835" y="2896642"/>
            <a:ext cx="2124666" cy="21580"/>
          </a:xfrm>
          <a:custGeom>
            <a:avLst/>
            <a:gdLst/>
            <a:ahLst/>
            <a:cxnLst/>
            <a:rect l="l" t="t" r="r" b="b"/>
            <a:pathLst>
              <a:path w="2124666" h="21580">
                <a:moveTo>
                  <a:pt x="100330" y="0"/>
                </a:moveTo>
                <a:lnTo>
                  <a:pt x="2024336" y="0"/>
                </a:lnTo>
                <a:lnTo>
                  <a:pt x="2047444" y="2698"/>
                </a:lnTo>
                <a:lnTo>
                  <a:pt x="2056793" y="5395"/>
                </a:lnTo>
                <a:lnTo>
                  <a:pt x="2063812" y="8093"/>
                </a:lnTo>
                <a:lnTo>
                  <a:pt x="2069598" y="10790"/>
                </a:lnTo>
                <a:lnTo>
                  <a:pt x="2074580" y="13488"/>
                </a:lnTo>
                <a:lnTo>
                  <a:pt x="2078978" y="16185"/>
                </a:lnTo>
                <a:lnTo>
                  <a:pt x="2082923" y="18883"/>
                </a:lnTo>
                <a:lnTo>
                  <a:pt x="2086501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solidFill>
            <a:srgbClr val="C0392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72250" y="0"/>
            <a:ext cx="2571750" cy="2571750"/>
          </a:xfrm>
          <a:prstGeom prst="ellipse">
            <a:avLst/>
          </a:prstGeom>
          <a:gradFill rotWithShape="1">
            <a:gsLst>
              <a:gs pos="0">
                <a:srgbClr val="1A7A82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0" y="3143250"/>
            <a:ext cx="2000250" cy="2000250"/>
          </a:xfrm>
          <a:prstGeom prst="ellipse">
            <a:avLst/>
          </a:prstGeom>
          <a:gradFill rotWithShape="1">
            <a:gsLst>
              <a:gs pos="0">
                <a:srgbClr val="E8A427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12136" y="704701"/>
            <a:ext cx="319727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5400" dirty="0">
                <a:solidFill>
                  <a:srgbClr val="E8A4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932268" y="1202382"/>
            <a:ext cx="5279463" cy="730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41"/>
              </a:lnSpc>
              <a:buNone/>
            </a:pPr>
            <a:r>
              <a:rPr lang="en-US" sz="2030" kern="0" spc="-2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People get confused because they cannot see</a:t>
            </a:r>
            <a:br/>
            <a:r>
              <a:rPr lang="en-US" sz="2030" kern="0" spc="-2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things in a </a:t>
            </a:r>
            <a:r>
              <a:rPr lang="en-US" sz="2030" b="1" kern="0" spc="-2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simple</a:t>
            </a:r>
            <a:r>
              <a:rPr lang="en-US" sz="2030" kern="0" spc="-2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way.</a:t>
            </a:r>
            <a:endParaRPr lang="en-US" sz="2030" dirty="0"/>
          </a:p>
        </p:txBody>
      </p:sp>
      <p:sp>
        <p:nvSpPr>
          <p:cNvPr id="12" name="Text 10"/>
          <p:cNvSpPr/>
          <p:nvPr/>
        </p:nvSpPr>
        <p:spPr>
          <a:xfrm>
            <a:off x="3794053" y="2026444"/>
            <a:ext cx="1555745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40"/>
              </a:lnSpc>
              <a:spcBef>
                <a:spcPts val="1010"/>
              </a:spcBef>
              <a:buNone/>
            </a:pPr>
            <a:r>
              <a:rPr lang="en-US" sz="960" b="1" kern="0" spc="80" dirty="0">
                <a:solidFill>
                  <a:srgbClr val="1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BINARY  DECISION PATH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4357390" y="2409825"/>
            <a:ext cx="429220" cy="13841"/>
          </a:xfrm>
          <a:prstGeom prst="roundRect">
            <a:avLst>
              <a:gd name="adj" fmla="val 100932"/>
            </a:avLst>
          </a:pr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069141" y="2595116"/>
            <a:ext cx="300556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730" b="1" kern="0" spc="14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POINTS THIS FRAMEWORK SOLVES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4970" y="2877592"/>
            <a:ext cx="2143720" cy="1389757"/>
          </a:xfrm>
          <a:prstGeom prst="roundRect">
            <a:avLst>
              <a:gd name="adj" fmla="val 7219"/>
            </a:avLst>
          </a:prstGeom>
          <a:solidFill>
            <a:srgbClr val="FFFFFF"/>
          </a:solidFill>
          <a:ln/>
          <a:effectLst>
            <a:outerShdw blurRad="86360" dist="13970" dir="5400000" algn="bl" rotWithShape="0">
              <a:srgbClr val="0D1B2A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84970" y="2877592"/>
            <a:ext cx="9525" cy="1389757"/>
          </a:xfrm>
          <a:custGeom>
            <a:avLst/>
            <a:gdLst/>
            <a:ahLst/>
            <a:cxnLst/>
            <a:rect l="l" t="t" r="r" b="b"/>
            <a:pathLst>
              <a:path w="9525" h="1389757">
                <a:moveTo>
                  <a:pt x="0" y="100330"/>
                </a:moveTo>
                <a:lnTo>
                  <a:pt x="1191" y="84919"/>
                </a:lnTo>
                <a:lnTo>
                  <a:pt x="2381" y="78601"/>
                </a:lnTo>
                <a:lnTo>
                  <a:pt x="3572" y="73797"/>
                </a:lnTo>
                <a:lnTo>
                  <a:pt x="4763" y="69785"/>
                </a:lnTo>
                <a:lnTo>
                  <a:pt x="5953" y="66284"/>
                </a:lnTo>
                <a:lnTo>
                  <a:pt x="7144" y="63149"/>
                </a:lnTo>
                <a:lnTo>
                  <a:pt x="8334" y="60293"/>
                </a:lnTo>
                <a:lnTo>
                  <a:pt x="9525" y="57662"/>
                </a:lnTo>
                <a:lnTo>
                  <a:pt x="9525" y="1332095"/>
                </a:lnTo>
                <a:lnTo>
                  <a:pt x="8334" y="1329464"/>
                </a:lnTo>
                <a:lnTo>
                  <a:pt x="7144" y="1326608"/>
                </a:lnTo>
                <a:lnTo>
                  <a:pt x="5953" y="1323473"/>
                </a:lnTo>
                <a:lnTo>
                  <a:pt x="4763" y="1319972"/>
                </a:lnTo>
                <a:lnTo>
                  <a:pt x="3572" y="1315960"/>
                </a:lnTo>
                <a:lnTo>
                  <a:pt x="2381" y="1311156"/>
                </a:lnTo>
                <a:lnTo>
                  <a:pt x="1191" y="1304838"/>
                </a:lnTo>
                <a:lnTo>
                  <a:pt x="0" y="1289427"/>
                </a:lnTo>
                <a:close/>
              </a:path>
            </a:pathLst>
          </a:custGeom>
          <a:solidFill>
            <a:srgbClr val="0D1B2A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19165" y="2877592"/>
            <a:ext cx="9525" cy="1389757"/>
          </a:xfrm>
          <a:custGeom>
            <a:avLst/>
            <a:gdLst/>
            <a:ahLst/>
            <a:cxnLst/>
            <a:rect l="l" t="t" r="r" b="b"/>
            <a:pathLst>
              <a:path w="9525" h="1389757">
                <a:moveTo>
                  <a:pt x="0" y="57662"/>
                </a:moveTo>
                <a:lnTo>
                  <a:pt x="1191" y="60293"/>
                </a:lnTo>
                <a:lnTo>
                  <a:pt x="2381" y="63149"/>
                </a:lnTo>
                <a:lnTo>
                  <a:pt x="3572" y="66284"/>
                </a:lnTo>
                <a:lnTo>
                  <a:pt x="4763" y="69785"/>
                </a:lnTo>
                <a:lnTo>
                  <a:pt x="5953" y="73797"/>
                </a:lnTo>
                <a:lnTo>
                  <a:pt x="7144" y="78601"/>
                </a:lnTo>
                <a:lnTo>
                  <a:pt x="8334" y="84919"/>
                </a:lnTo>
                <a:lnTo>
                  <a:pt x="9525" y="100330"/>
                </a:lnTo>
                <a:lnTo>
                  <a:pt x="9525" y="1289427"/>
                </a:lnTo>
                <a:lnTo>
                  <a:pt x="8334" y="1304838"/>
                </a:lnTo>
                <a:lnTo>
                  <a:pt x="7144" y="1311156"/>
                </a:lnTo>
                <a:lnTo>
                  <a:pt x="5953" y="1315960"/>
                </a:lnTo>
                <a:lnTo>
                  <a:pt x="4763" y="1319972"/>
                </a:lnTo>
                <a:lnTo>
                  <a:pt x="3572" y="1323473"/>
                </a:lnTo>
                <a:lnTo>
                  <a:pt x="2381" y="1326608"/>
                </a:lnTo>
                <a:lnTo>
                  <a:pt x="1191" y="1329464"/>
                </a:lnTo>
                <a:lnTo>
                  <a:pt x="0" y="1332095"/>
                </a:lnTo>
                <a:close/>
              </a:path>
            </a:pathLst>
          </a:custGeom>
          <a:solidFill>
            <a:srgbClr val="0D1B2A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042220" y="3097262"/>
            <a:ext cx="429220" cy="429220"/>
          </a:xfrm>
          <a:prstGeom prst="ellipse">
            <a:avLst/>
          </a:prstGeom>
          <a:solidFill>
            <a:srgbClr val="E8A427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76314" y="3231356"/>
            <a:ext cx="160883" cy="16088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23268" y="3626793"/>
            <a:ext cx="1267123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2"/>
              </a:lnSpc>
              <a:buNone/>
            </a:pPr>
            <a:r>
              <a:rPr lang="en-US" sz="960" b="1" kern="0" spc="1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Variables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1348127" y="3816102"/>
            <a:ext cx="1817406" cy="283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64"/>
              </a:lnSpc>
              <a:buNone/>
            </a:pPr>
            <a:r>
              <a:rPr lang="en-US" sz="76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balloon into dozens of competing factors with no clear structure</a:t>
            </a:r>
            <a:endParaRPr lang="en-US" sz="760" dirty="0"/>
          </a:p>
        </p:txBody>
      </p:sp>
      <p:sp>
        <p:nvSpPr>
          <p:cNvPr id="22" name="Text 19"/>
          <p:cNvSpPr/>
          <p:nvPr/>
        </p:nvSpPr>
        <p:spPr>
          <a:xfrm>
            <a:off x="3500140" y="2877592"/>
            <a:ext cx="2143720" cy="1389757"/>
          </a:xfrm>
          <a:prstGeom prst="roundRect">
            <a:avLst>
              <a:gd name="adj" fmla="val 7219"/>
            </a:avLst>
          </a:prstGeom>
          <a:solidFill>
            <a:srgbClr val="FFFFFF"/>
          </a:solidFill>
          <a:ln/>
          <a:effectLst>
            <a:outerShdw blurRad="86360" dist="13970" dir="5400000" algn="bl" rotWithShape="0">
              <a:srgbClr val="0D1B2A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500140" y="2877592"/>
            <a:ext cx="9525" cy="1389757"/>
          </a:xfrm>
          <a:custGeom>
            <a:avLst/>
            <a:gdLst/>
            <a:ahLst/>
            <a:cxnLst/>
            <a:rect l="l" t="t" r="r" b="b"/>
            <a:pathLst>
              <a:path w="9525" h="1389757">
                <a:moveTo>
                  <a:pt x="0" y="100330"/>
                </a:moveTo>
                <a:lnTo>
                  <a:pt x="1191" y="84919"/>
                </a:lnTo>
                <a:lnTo>
                  <a:pt x="2381" y="78601"/>
                </a:lnTo>
                <a:lnTo>
                  <a:pt x="3572" y="73797"/>
                </a:lnTo>
                <a:lnTo>
                  <a:pt x="4763" y="69785"/>
                </a:lnTo>
                <a:lnTo>
                  <a:pt x="5953" y="66284"/>
                </a:lnTo>
                <a:lnTo>
                  <a:pt x="7144" y="63149"/>
                </a:lnTo>
                <a:lnTo>
                  <a:pt x="8334" y="60293"/>
                </a:lnTo>
                <a:lnTo>
                  <a:pt x="9525" y="57662"/>
                </a:lnTo>
                <a:lnTo>
                  <a:pt x="9525" y="1332095"/>
                </a:lnTo>
                <a:lnTo>
                  <a:pt x="8334" y="1329464"/>
                </a:lnTo>
                <a:lnTo>
                  <a:pt x="7144" y="1326608"/>
                </a:lnTo>
                <a:lnTo>
                  <a:pt x="5953" y="1323473"/>
                </a:lnTo>
                <a:lnTo>
                  <a:pt x="4763" y="1319972"/>
                </a:lnTo>
                <a:lnTo>
                  <a:pt x="3572" y="1315960"/>
                </a:lnTo>
                <a:lnTo>
                  <a:pt x="2381" y="1311156"/>
                </a:lnTo>
                <a:lnTo>
                  <a:pt x="1191" y="1304838"/>
                </a:lnTo>
                <a:lnTo>
                  <a:pt x="0" y="1289427"/>
                </a:lnTo>
                <a:close/>
              </a:path>
            </a:pathLst>
          </a:custGeom>
          <a:solidFill>
            <a:srgbClr val="0D1B2A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634335" y="2877592"/>
            <a:ext cx="9525" cy="1389757"/>
          </a:xfrm>
          <a:custGeom>
            <a:avLst/>
            <a:gdLst/>
            <a:ahLst/>
            <a:cxnLst/>
            <a:rect l="l" t="t" r="r" b="b"/>
            <a:pathLst>
              <a:path w="9525" h="1389757">
                <a:moveTo>
                  <a:pt x="0" y="57662"/>
                </a:moveTo>
                <a:lnTo>
                  <a:pt x="1191" y="60293"/>
                </a:lnTo>
                <a:lnTo>
                  <a:pt x="2381" y="63149"/>
                </a:lnTo>
                <a:lnTo>
                  <a:pt x="3572" y="66284"/>
                </a:lnTo>
                <a:lnTo>
                  <a:pt x="4763" y="69785"/>
                </a:lnTo>
                <a:lnTo>
                  <a:pt x="5953" y="73797"/>
                </a:lnTo>
                <a:lnTo>
                  <a:pt x="7144" y="78601"/>
                </a:lnTo>
                <a:lnTo>
                  <a:pt x="8334" y="84919"/>
                </a:lnTo>
                <a:lnTo>
                  <a:pt x="9525" y="100330"/>
                </a:lnTo>
                <a:lnTo>
                  <a:pt x="9525" y="1289427"/>
                </a:lnTo>
                <a:lnTo>
                  <a:pt x="8334" y="1304838"/>
                </a:lnTo>
                <a:lnTo>
                  <a:pt x="7144" y="1311156"/>
                </a:lnTo>
                <a:lnTo>
                  <a:pt x="5953" y="1315960"/>
                </a:lnTo>
                <a:lnTo>
                  <a:pt x="4763" y="1319972"/>
                </a:lnTo>
                <a:lnTo>
                  <a:pt x="3572" y="1323473"/>
                </a:lnTo>
                <a:lnTo>
                  <a:pt x="2381" y="1326608"/>
                </a:lnTo>
                <a:lnTo>
                  <a:pt x="1191" y="1329464"/>
                </a:lnTo>
                <a:lnTo>
                  <a:pt x="0" y="1332095"/>
                </a:lnTo>
                <a:close/>
              </a:path>
            </a:pathLst>
          </a:custGeom>
          <a:solidFill>
            <a:srgbClr val="0D1B2A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357390" y="3097262"/>
            <a:ext cx="429220" cy="429220"/>
          </a:xfrm>
          <a:prstGeom prst="ellipse">
            <a:avLst/>
          </a:prstGeom>
          <a:solidFill>
            <a:srgbClr val="1A7A82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1484" y="3231356"/>
            <a:ext cx="160883" cy="16088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031099" y="3626793"/>
            <a:ext cx="1081802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2"/>
              </a:lnSpc>
              <a:buNone/>
            </a:pPr>
            <a:r>
              <a:rPr lang="en-US" sz="960" b="1" kern="0" spc="1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Priority</a:t>
            </a:r>
            <a:endParaRPr lang="en-US" sz="960" dirty="0"/>
          </a:p>
        </p:txBody>
      </p:sp>
      <p:sp>
        <p:nvSpPr>
          <p:cNvPr id="28" name="Text 24"/>
          <p:cNvSpPr/>
          <p:nvPr/>
        </p:nvSpPr>
        <p:spPr>
          <a:xfrm>
            <a:off x="3663297" y="3816102"/>
            <a:ext cx="1817406" cy="283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64"/>
              </a:lnSpc>
              <a:buNone/>
            </a:pPr>
            <a:r>
              <a:rPr lang="en-US" sz="76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feels equally urgent — teams debate endlessly without reaching focus</a:t>
            </a:r>
            <a:endParaRPr lang="en-US" sz="760" dirty="0"/>
          </a:p>
        </p:txBody>
      </p:sp>
      <p:sp>
        <p:nvSpPr>
          <p:cNvPr id="29" name="Text 25"/>
          <p:cNvSpPr/>
          <p:nvPr/>
        </p:nvSpPr>
        <p:spPr>
          <a:xfrm>
            <a:off x="5815310" y="2877592"/>
            <a:ext cx="2143720" cy="1389757"/>
          </a:xfrm>
          <a:prstGeom prst="roundRect">
            <a:avLst>
              <a:gd name="adj" fmla="val 7219"/>
            </a:avLst>
          </a:prstGeom>
          <a:solidFill>
            <a:srgbClr val="FFFFFF"/>
          </a:solidFill>
          <a:ln/>
          <a:effectLst>
            <a:outerShdw blurRad="86360" dist="13970" dir="5400000" algn="bl" rotWithShape="0">
              <a:srgbClr val="0D1B2A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815310" y="2877592"/>
            <a:ext cx="9525" cy="1389757"/>
          </a:xfrm>
          <a:custGeom>
            <a:avLst/>
            <a:gdLst/>
            <a:ahLst/>
            <a:cxnLst/>
            <a:rect l="l" t="t" r="r" b="b"/>
            <a:pathLst>
              <a:path w="9525" h="1389757">
                <a:moveTo>
                  <a:pt x="0" y="100330"/>
                </a:moveTo>
                <a:lnTo>
                  <a:pt x="1191" y="84919"/>
                </a:lnTo>
                <a:lnTo>
                  <a:pt x="2381" y="78601"/>
                </a:lnTo>
                <a:lnTo>
                  <a:pt x="3572" y="73797"/>
                </a:lnTo>
                <a:lnTo>
                  <a:pt x="4763" y="69785"/>
                </a:lnTo>
                <a:lnTo>
                  <a:pt x="5953" y="66284"/>
                </a:lnTo>
                <a:lnTo>
                  <a:pt x="7144" y="63149"/>
                </a:lnTo>
                <a:lnTo>
                  <a:pt x="8334" y="60293"/>
                </a:lnTo>
                <a:lnTo>
                  <a:pt x="9525" y="57662"/>
                </a:lnTo>
                <a:lnTo>
                  <a:pt x="9525" y="1332095"/>
                </a:lnTo>
                <a:lnTo>
                  <a:pt x="8334" y="1329464"/>
                </a:lnTo>
                <a:lnTo>
                  <a:pt x="7144" y="1326608"/>
                </a:lnTo>
                <a:lnTo>
                  <a:pt x="5953" y="1323473"/>
                </a:lnTo>
                <a:lnTo>
                  <a:pt x="4763" y="1319972"/>
                </a:lnTo>
                <a:lnTo>
                  <a:pt x="3572" y="1315960"/>
                </a:lnTo>
                <a:lnTo>
                  <a:pt x="2381" y="1311156"/>
                </a:lnTo>
                <a:lnTo>
                  <a:pt x="1191" y="1304838"/>
                </a:lnTo>
                <a:lnTo>
                  <a:pt x="0" y="1289427"/>
                </a:lnTo>
                <a:close/>
              </a:path>
            </a:pathLst>
          </a:custGeom>
          <a:solidFill>
            <a:srgbClr val="0D1B2A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7949505" y="2877592"/>
            <a:ext cx="9525" cy="1389757"/>
          </a:xfrm>
          <a:custGeom>
            <a:avLst/>
            <a:gdLst/>
            <a:ahLst/>
            <a:cxnLst/>
            <a:rect l="l" t="t" r="r" b="b"/>
            <a:pathLst>
              <a:path w="9525" h="1389757">
                <a:moveTo>
                  <a:pt x="0" y="57662"/>
                </a:moveTo>
                <a:lnTo>
                  <a:pt x="1191" y="60293"/>
                </a:lnTo>
                <a:lnTo>
                  <a:pt x="2381" y="63149"/>
                </a:lnTo>
                <a:lnTo>
                  <a:pt x="3572" y="66284"/>
                </a:lnTo>
                <a:lnTo>
                  <a:pt x="4763" y="69785"/>
                </a:lnTo>
                <a:lnTo>
                  <a:pt x="5953" y="73797"/>
                </a:lnTo>
                <a:lnTo>
                  <a:pt x="7144" y="78601"/>
                </a:lnTo>
                <a:lnTo>
                  <a:pt x="8334" y="84919"/>
                </a:lnTo>
                <a:lnTo>
                  <a:pt x="9525" y="100330"/>
                </a:lnTo>
                <a:lnTo>
                  <a:pt x="9525" y="1289427"/>
                </a:lnTo>
                <a:lnTo>
                  <a:pt x="8334" y="1304838"/>
                </a:lnTo>
                <a:lnTo>
                  <a:pt x="7144" y="1311156"/>
                </a:lnTo>
                <a:lnTo>
                  <a:pt x="5953" y="1315960"/>
                </a:lnTo>
                <a:lnTo>
                  <a:pt x="4763" y="1319972"/>
                </a:lnTo>
                <a:lnTo>
                  <a:pt x="3572" y="1323473"/>
                </a:lnTo>
                <a:lnTo>
                  <a:pt x="2381" y="1326608"/>
                </a:lnTo>
                <a:lnTo>
                  <a:pt x="1191" y="1329464"/>
                </a:lnTo>
                <a:lnTo>
                  <a:pt x="0" y="1332095"/>
                </a:lnTo>
                <a:close/>
              </a:path>
            </a:pathLst>
          </a:custGeom>
          <a:solidFill>
            <a:srgbClr val="0D1B2A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6672560" y="3097262"/>
            <a:ext cx="429220" cy="429220"/>
          </a:xfrm>
          <a:prstGeom prst="ellipse">
            <a:avLst/>
          </a:prstGeom>
          <a:solidFill>
            <a:srgbClr val="C0392B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6654" y="3231356"/>
            <a:ext cx="160883" cy="160883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217101" y="3626793"/>
            <a:ext cx="1340138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2"/>
              </a:lnSpc>
              <a:buNone/>
            </a:pPr>
            <a:r>
              <a:rPr lang="en-US" sz="960" b="1" kern="0" spc="1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Team Consensus</a:t>
            </a:r>
            <a:endParaRPr lang="en-US" sz="960" dirty="0"/>
          </a:p>
        </p:txBody>
      </p:sp>
      <p:sp>
        <p:nvSpPr>
          <p:cNvPr id="35" name="Text 30"/>
          <p:cNvSpPr/>
          <p:nvPr/>
        </p:nvSpPr>
        <p:spPr>
          <a:xfrm>
            <a:off x="5978467" y="3816102"/>
            <a:ext cx="1817406" cy="283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64"/>
              </a:lnSpc>
              <a:buNone/>
            </a:pPr>
            <a:r>
              <a:rPr lang="en-US" sz="76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Misaligned stakeholders pull in different directions — decisions stall or fracture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427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427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14530" y="0"/>
            <a:ext cx="2429470" cy="2143720"/>
          </a:xfrm>
          <a:prstGeom prst="ellipse">
            <a:avLst/>
          </a:prstGeom>
          <a:gradFill rotWithShape="1">
            <a:gsLst>
              <a:gs pos="0">
                <a:srgbClr val="1A3A5C">
                  <a:alpha val="8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572470"/>
            <a:ext cx="1856780" cy="1571030"/>
          </a:xfrm>
          <a:prstGeom prst="ellipse">
            <a:avLst/>
          </a:prstGeom>
          <a:gradFill rotWithShape="1">
            <a:gsLst>
              <a:gs pos="0">
                <a:srgbClr val="E8A427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" y="1739652"/>
            <a:ext cx="1942205" cy="21580"/>
          </a:xfrm>
          <a:custGeom>
            <a:avLst/>
            <a:gdLst/>
            <a:ahLst/>
            <a:cxnLst/>
            <a:rect l="l" t="t" r="r" b="b"/>
            <a:pathLst>
              <a:path w="1942205" h="21580">
                <a:moveTo>
                  <a:pt x="100330" y="0"/>
                </a:moveTo>
                <a:lnTo>
                  <a:pt x="1841875" y="0"/>
                </a:lnTo>
                <a:lnTo>
                  <a:pt x="1864983" y="2698"/>
                </a:lnTo>
                <a:lnTo>
                  <a:pt x="1874332" y="5395"/>
                </a:lnTo>
                <a:lnTo>
                  <a:pt x="1881351" y="8093"/>
                </a:lnTo>
                <a:lnTo>
                  <a:pt x="1887137" y="10790"/>
                </a:lnTo>
                <a:lnTo>
                  <a:pt x="1892119" y="13488"/>
                </a:lnTo>
                <a:lnTo>
                  <a:pt x="1896517" y="16185"/>
                </a:lnTo>
                <a:lnTo>
                  <a:pt x="1900462" y="18883"/>
                </a:lnTo>
                <a:lnTo>
                  <a:pt x="1904040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E8A427"/>
              </a:gs>
              <a:gs pos="100000">
                <a:srgbClr val="E8A427">
                  <a:alpha val="1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" y="1739652"/>
            <a:ext cx="1942205" cy="3108569"/>
          </a:xfrm>
          <a:prstGeom prst="roundRect">
            <a:avLst>
              <a:gd name="adj" fmla="val 5166"/>
            </a:avLst>
          </a:prstGeom>
          <a:gradFill rotWithShape="1">
            <a:gsLst>
              <a:gs pos="0">
                <a:srgbClr val="E8A427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56123" y="1739652"/>
            <a:ext cx="1942205" cy="21580"/>
          </a:xfrm>
          <a:custGeom>
            <a:avLst/>
            <a:gdLst/>
            <a:ahLst/>
            <a:cxnLst/>
            <a:rect l="l" t="t" r="r" b="b"/>
            <a:pathLst>
              <a:path w="1942205" h="21580">
                <a:moveTo>
                  <a:pt x="100330" y="0"/>
                </a:moveTo>
                <a:lnTo>
                  <a:pt x="1841875" y="0"/>
                </a:lnTo>
                <a:lnTo>
                  <a:pt x="1864983" y="2698"/>
                </a:lnTo>
                <a:lnTo>
                  <a:pt x="1874332" y="5395"/>
                </a:lnTo>
                <a:lnTo>
                  <a:pt x="1881351" y="8093"/>
                </a:lnTo>
                <a:lnTo>
                  <a:pt x="1887137" y="10790"/>
                </a:lnTo>
                <a:lnTo>
                  <a:pt x="1892119" y="13488"/>
                </a:lnTo>
                <a:lnTo>
                  <a:pt x="1896517" y="16185"/>
                </a:lnTo>
                <a:lnTo>
                  <a:pt x="1900462" y="18883"/>
                </a:lnTo>
                <a:lnTo>
                  <a:pt x="1904040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E8A427"/>
              </a:gs>
              <a:gs pos="100000">
                <a:srgbClr val="E8A427">
                  <a:alpha val="1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56123" y="1739652"/>
            <a:ext cx="1942205" cy="3108569"/>
          </a:xfrm>
          <a:prstGeom prst="roundRect">
            <a:avLst>
              <a:gd name="adj" fmla="val 5166"/>
            </a:avLst>
          </a:prstGeom>
          <a:gradFill rotWithShape="1">
            <a:gsLst>
              <a:gs pos="0">
                <a:srgbClr val="E8A427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45521" y="1739652"/>
            <a:ext cx="1942205" cy="21580"/>
          </a:xfrm>
          <a:custGeom>
            <a:avLst/>
            <a:gdLst/>
            <a:ahLst/>
            <a:cxnLst/>
            <a:rect l="l" t="t" r="r" b="b"/>
            <a:pathLst>
              <a:path w="1942205" h="21580">
                <a:moveTo>
                  <a:pt x="100330" y="0"/>
                </a:moveTo>
                <a:lnTo>
                  <a:pt x="1841875" y="0"/>
                </a:lnTo>
                <a:lnTo>
                  <a:pt x="1864983" y="2698"/>
                </a:lnTo>
                <a:lnTo>
                  <a:pt x="1874332" y="5395"/>
                </a:lnTo>
                <a:lnTo>
                  <a:pt x="1881351" y="8093"/>
                </a:lnTo>
                <a:lnTo>
                  <a:pt x="1887137" y="10790"/>
                </a:lnTo>
                <a:lnTo>
                  <a:pt x="1892119" y="13488"/>
                </a:lnTo>
                <a:lnTo>
                  <a:pt x="1896517" y="16185"/>
                </a:lnTo>
                <a:lnTo>
                  <a:pt x="1900462" y="18883"/>
                </a:lnTo>
                <a:lnTo>
                  <a:pt x="1904040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E8A427"/>
              </a:gs>
              <a:gs pos="100000">
                <a:srgbClr val="E8A427">
                  <a:alpha val="1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45521" y="1739652"/>
            <a:ext cx="1942205" cy="3108569"/>
          </a:xfrm>
          <a:prstGeom prst="roundRect">
            <a:avLst>
              <a:gd name="adj" fmla="val 5166"/>
            </a:avLst>
          </a:prstGeom>
          <a:gradFill rotWithShape="1">
            <a:gsLst>
              <a:gs pos="0">
                <a:srgbClr val="E8A427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34919" y="1739652"/>
            <a:ext cx="1942357" cy="21580"/>
          </a:xfrm>
          <a:custGeom>
            <a:avLst/>
            <a:gdLst/>
            <a:ahLst/>
            <a:cxnLst/>
            <a:rect l="l" t="t" r="r" b="b"/>
            <a:pathLst>
              <a:path w="1942357" h="21580">
                <a:moveTo>
                  <a:pt x="100330" y="0"/>
                </a:moveTo>
                <a:lnTo>
                  <a:pt x="1842027" y="0"/>
                </a:lnTo>
                <a:lnTo>
                  <a:pt x="1865136" y="2698"/>
                </a:lnTo>
                <a:lnTo>
                  <a:pt x="1874484" y="5395"/>
                </a:lnTo>
                <a:lnTo>
                  <a:pt x="1881503" y="8093"/>
                </a:lnTo>
                <a:lnTo>
                  <a:pt x="1887290" y="10790"/>
                </a:lnTo>
                <a:lnTo>
                  <a:pt x="1892272" y="13488"/>
                </a:lnTo>
                <a:lnTo>
                  <a:pt x="1896669" y="16185"/>
                </a:lnTo>
                <a:lnTo>
                  <a:pt x="1900614" y="18883"/>
                </a:lnTo>
                <a:lnTo>
                  <a:pt x="1904193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E8A427"/>
              </a:gs>
              <a:gs pos="100000">
                <a:srgbClr val="E8A427">
                  <a:alpha val="1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34919" y="1739652"/>
            <a:ext cx="1942357" cy="3108569"/>
          </a:xfrm>
          <a:prstGeom prst="roundRect">
            <a:avLst>
              <a:gd name="adj" fmla="val 5165"/>
            </a:avLst>
          </a:prstGeom>
          <a:gradFill rotWithShape="1">
            <a:gsLst>
              <a:gs pos="0">
                <a:srgbClr val="E8A427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29030" y="450652"/>
            <a:ext cx="114300" cy="29170"/>
          </a:xfrm>
          <a:prstGeom prst="roundRect">
            <a:avLst>
              <a:gd name="adj" fmla="val 47892"/>
            </a:avLst>
          </a:prstGeom>
          <a:solidFill>
            <a:srgbClr val="E8A427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429030" y="450652"/>
            <a:ext cx="114300" cy="29170"/>
          </a:xfrm>
          <a:prstGeom prst="roundRect">
            <a:avLst>
              <a:gd name="adj" fmla="val 47892"/>
            </a:avLst>
          </a:prstGeom>
          <a:solidFill>
            <a:srgbClr val="E8A427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429030" y="579834"/>
            <a:ext cx="114300" cy="29170"/>
          </a:xfrm>
          <a:prstGeom prst="roundRect">
            <a:avLst>
              <a:gd name="adj" fmla="val 47892"/>
            </a:avLst>
          </a:prstGeom>
          <a:solidFill>
            <a:srgbClr val="E8A427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429030" y="579834"/>
            <a:ext cx="114300" cy="29170"/>
          </a:xfrm>
          <a:prstGeom prst="roundRect">
            <a:avLst>
              <a:gd name="adj" fmla="val 47892"/>
            </a:avLst>
          </a:prstGeom>
          <a:solidFill>
            <a:srgbClr val="E8A427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429030" y="709017"/>
            <a:ext cx="114300" cy="29170"/>
          </a:xfrm>
          <a:prstGeom prst="roundRect">
            <a:avLst>
              <a:gd name="adj" fmla="val 47892"/>
            </a:avLst>
          </a:prstGeom>
          <a:solidFill>
            <a:srgbClr val="E8A427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429030" y="709017"/>
            <a:ext cx="114300" cy="29170"/>
          </a:xfrm>
          <a:prstGeom prst="roundRect">
            <a:avLst>
              <a:gd name="adj" fmla="val 47892"/>
            </a:avLst>
          </a:prstGeom>
          <a:solidFill>
            <a:srgbClr val="E8A427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342900"/>
            <a:ext cx="845468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70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PHILOSOPHY OF SIMPLICITY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457200" y="525066"/>
            <a:ext cx="8070384" cy="39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77"/>
              </a:lnSpc>
              <a:buNone/>
            </a:pPr>
            <a:r>
              <a:rPr lang="en-US" sz="2930" kern="0" spc="-30" dirty="0">
                <a:solidFill>
                  <a:srgbClr val="E8A4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</a:t>
            </a:r>
            <a:r>
              <a:rPr lang="en-US" sz="2930" b="1" kern="0" spc="-30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Binary?</a:t>
            </a:r>
            <a:endParaRPr lang="en-US" sz="2930" dirty="0"/>
          </a:p>
        </p:txBody>
      </p:sp>
      <p:sp>
        <p:nvSpPr>
          <p:cNvPr id="22" name="Text 20"/>
          <p:cNvSpPr/>
          <p:nvPr/>
        </p:nvSpPr>
        <p:spPr>
          <a:xfrm>
            <a:off x="457200" y="986730"/>
            <a:ext cx="5143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E8A42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429030" y="386060"/>
            <a:ext cx="257770" cy="29170"/>
          </a:xfrm>
          <a:prstGeom prst="roundRect">
            <a:avLst>
              <a:gd name="adj" fmla="val 47892"/>
            </a:avLst>
          </a:prstGeom>
          <a:solidFill>
            <a:srgbClr val="E8A427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429030" y="515243"/>
            <a:ext cx="257770" cy="29170"/>
          </a:xfrm>
          <a:prstGeom prst="roundRect">
            <a:avLst>
              <a:gd name="adj" fmla="val 47892"/>
            </a:avLst>
          </a:prstGeom>
          <a:solidFill>
            <a:srgbClr val="E8A427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429030" y="644426"/>
            <a:ext cx="257770" cy="29170"/>
          </a:xfrm>
          <a:prstGeom prst="roundRect">
            <a:avLst>
              <a:gd name="adj" fmla="val 47892"/>
            </a:avLst>
          </a:prstGeom>
          <a:solidFill>
            <a:srgbClr val="E8A427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7200" y="1151781"/>
            <a:ext cx="5684175" cy="396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8"/>
              </a:lnSpc>
              <a:spcAft>
                <a:spcPts val="1580"/>
              </a:spcAft>
              <a:buNone/>
            </a:pPr>
            <a:r>
              <a:rPr lang="en-US" sz="960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Ching</a:t>
            </a:r>
            <a:r>
              <a:rPr lang="en-US" sz="960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of the oldest books of wisdom — teaches that all complexity in the universe resolves into two forces: </a:t>
            </a: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 and Yang. Digital world is based on 0 and 1.</a:t>
            </a:r>
            <a:r>
              <a:rPr lang="en-US" sz="960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is the foundation of </a:t>
            </a: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Path.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457200" y="1766706"/>
            <a:ext cx="1961257" cy="2464880"/>
          </a:xfrm>
          <a:prstGeom prst="roundRect">
            <a:avLst>
              <a:gd name="adj" fmla="val 5116"/>
            </a:avLst>
          </a:prstGeom>
          <a:solidFill>
            <a:srgbClr val="1A3A5C"/>
          </a:solidFill>
          <a:ln w="9525">
            <a:solidFill>
              <a:srgbClr val="E8A42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4185" y="1940272"/>
            <a:ext cx="386060" cy="386060"/>
          </a:xfrm>
          <a:prstGeom prst="roundRect">
            <a:avLst>
              <a:gd name="adj" fmla="val 22370"/>
            </a:avLst>
          </a:prstGeom>
          <a:solidFill>
            <a:srgbClr val="E8A427">
              <a:alpha val="10000"/>
            </a:srgbClr>
          </a:solidFill>
          <a:ln w="9525">
            <a:solidFill>
              <a:srgbClr val="E8A427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699" y="2052786"/>
            <a:ext cx="160883" cy="160883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24185" y="2454473"/>
            <a:ext cx="6638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kern="0" spc="10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 &amp; Yang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4185" y="2668339"/>
            <a:ext cx="1659832" cy="503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problem has two sides — and wisdom lies in seeing both before choosing one.</a:t>
            </a:r>
            <a:endParaRPr lang="en-US" sz="840" dirty="0"/>
          </a:p>
        </p:txBody>
      </p:sp>
      <p:sp>
        <p:nvSpPr>
          <p:cNvPr id="32" name="Text 29"/>
          <p:cNvSpPr/>
          <p:nvPr/>
        </p:nvSpPr>
        <p:spPr>
          <a:xfrm>
            <a:off x="2546598" y="1766706"/>
            <a:ext cx="1961257" cy="2464880"/>
          </a:xfrm>
          <a:prstGeom prst="roundRect">
            <a:avLst>
              <a:gd name="adj" fmla="val 5116"/>
            </a:avLst>
          </a:prstGeom>
          <a:solidFill>
            <a:srgbClr val="1A3A5C"/>
          </a:solidFill>
          <a:ln w="9525">
            <a:solidFill>
              <a:srgbClr val="E8A42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2713583" y="1940272"/>
            <a:ext cx="386060" cy="386060"/>
          </a:xfrm>
          <a:prstGeom prst="roundRect">
            <a:avLst>
              <a:gd name="adj" fmla="val 22370"/>
            </a:avLst>
          </a:prstGeom>
          <a:solidFill>
            <a:srgbClr val="E8A427">
              <a:alpha val="10000"/>
            </a:srgbClr>
          </a:solidFill>
          <a:ln w="9525">
            <a:solidFill>
              <a:srgbClr val="E8A427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1306" y="2052786"/>
            <a:ext cx="150465" cy="160883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2713583" y="2454473"/>
            <a:ext cx="75601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kern="0" spc="10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Code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2713583" y="2668339"/>
            <a:ext cx="1659832" cy="67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computing runs entirely on 0 and 1. The most powerful systems in history are built on two states.</a:t>
            </a:r>
            <a:endParaRPr lang="en-US" sz="840" dirty="0"/>
          </a:p>
        </p:txBody>
      </p:sp>
      <p:sp>
        <p:nvSpPr>
          <p:cNvPr id="37" name="Text 33"/>
          <p:cNvSpPr/>
          <p:nvPr/>
        </p:nvSpPr>
        <p:spPr>
          <a:xfrm>
            <a:off x="4635996" y="1766706"/>
            <a:ext cx="1961257" cy="2464880"/>
          </a:xfrm>
          <a:prstGeom prst="roundRect">
            <a:avLst>
              <a:gd name="adj" fmla="val 5116"/>
            </a:avLst>
          </a:prstGeom>
          <a:solidFill>
            <a:srgbClr val="1A3A5C"/>
          </a:solidFill>
          <a:ln w="9525">
            <a:solidFill>
              <a:srgbClr val="E8A42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4802981" y="1940272"/>
            <a:ext cx="386060" cy="386060"/>
          </a:xfrm>
          <a:prstGeom prst="roundRect">
            <a:avLst>
              <a:gd name="adj" fmla="val 22370"/>
            </a:avLst>
          </a:prstGeom>
          <a:solidFill>
            <a:srgbClr val="E8A427">
              <a:alpha val="10000"/>
            </a:srgbClr>
          </a:solidFill>
          <a:ln w="9525">
            <a:solidFill>
              <a:srgbClr val="E8A427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0704" y="2052786"/>
            <a:ext cx="150465" cy="160883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4802981" y="2454473"/>
            <a:ext cx="138499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kern="0" spc="10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Wins Buy-In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4802981" y="2668339"/>
            <a:ext cx="1659832" cy="67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options are always easier to evaluate than five. </a:t>
            </a:r>
            <a:r>
              <a:rPr lang="en-CA" sz="840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clarity, organize complexity into two higher-level categories. </a:t>
            </a:r>
            <a:r>
              <a:rPr lang="en-US" sz="840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creates consensus faster than complexity ever can.</a:t>
            </a:r>
            <a:endParaRPr lang="en-US" sz="840" dirty="0"/>
          </a:p>
        </p:txBody>
      </p:sp>
      <p:sp>
        <p:nvSpPr>
          <p:cNvPr id="42" name="Text 37"/>
          <p:cNvSpPr/>
          <p:nvPr/>
        </p:nvSpPr>
        <p:spPr>
          <a:xfrm>
            <a:off x="6725394" y="1766706"/>
            <a:ext cx="1961406" cy="2464880"/>
          </a:xfrm>
          <a:prstGeom prst="roundRect">
            <a:avLst>
              <a:gd name="adj" fmla="val 5115"/>
            </a:avLst>
          </a:prstGeom>
          <a:solidFill>
            <a:srgbClr val="1A3A5C"/>
          </a:solidFill>
          <a:ln w="9525">
            <a:solidFill>
              <a:srgbClr val="E8A42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6892379" y="1940272"/>
            <a:ext cx="386060" cy="386060"/>
          </a:xfrm>
          <a:prstGeom prst="roundRect">
            <a:avLst>
              <a:gd name="adj" fmla="val 22370"/>
            </a:avLst>
          </a:prstGeom>
          <a:solidFill>
            <a:srgbClr val="E8A427">
              <a:alpha val="10000"/>
            </a:srgbClr>
          </a:solidFill>
          <a:ln w="9525">
            <a:solidFill>
              <a:srgbClr val="E8A427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04893" y="2052786"/>
            <a:ext cx="160883" cy="160883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6892379" y="2454473"/>
            <a:ext cx="10511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kern="0" spc="10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Clarity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6892379" y="2668339"/>
            <a:ext cx="1659984" cy="67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again and again until the path is clear. Each level of binary division brings the team closer to a clear  understanding and obvious actions.</a:t>
            </a:r>
            <a:endParaRPr lang="en-US" sz="84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F7AFCF-5E78-BAA4-4C64-EE19FAF7B3A9}"/>
              </a:ext>
            </a:extLst>
          </p:cNvPr>
          <p:cNvSpPr txBox="1"/>
          <p:nvPr/>
        </p:nvSpPr>
        <p:spPr>
          <a:xfrm>
            <a:off x="1010245" y="4488210"/>
            <a:ext cx="6810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Human working memory handles binary recursive choices more effectively than simultaneous evaluation of multiple independent alternatives.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3160"/>
          </a:xfrm>
          <a:prstGeom prst="rect">
            <a:avLst/>
          </a:prstGeom>
          <a:gradFill rotWithShape="1">
            <a:gsLst>
              <a:gs pos="0">
                <a:srgbClr val="1A3A5C"/>
              </a:gs>
              <a:gs pos="50000">
                <a:srgbClr val="E8A427"/>
              </a:gs>
              <a:gs pos="100000">
                <a:srgbClr val="1A3A5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71780" y="43160"/>
            <a:ext cx="1572220" cy="1572220"/>
          </a:xfrm>
          <a:prstGeom prst="rect">
            <a:avLst/>
          </a:prstGeom>
          <a:gradFill rotWithShape="1">
            <a:gsLst>
              <a:gs pos="0">
                <a:srgbClr val="E8A427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3857030"/>
            <a:ext cx="1286470" cy="1286470"/>
          </a:xfrm>
          <a:prstGeom prst="rect">
            <a:avLst/>
          </a:prstGeom>
          <a:gradFill rotWithShape="1">
            <a:gsLst>
              <a:gs pos="0">
                <a:srgbClr val="1A3A5C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271760"/>
            <a:ext cx="880110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70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PATH · FRAMEWORK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571500" y="446931"/>
            <a:ext cx="8561070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6"/>
              </a:lnSpc>
              <a:buNone/>
            </a:pPr>
            <a:r>
              <a:rPr lang="en-US" sz="2360" dirty="0">
                <a:solidFill>
                  <a:srgbClr val="1A3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Rules. </a:t>
            </a:r>
            <a:r>
              <a:rPr lang="en-US" sz="23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Clarity.</a:t>
            </a:r>
            <a:endParaRPr lang="en-US" sz="2360" dirty="0"/>
          </a:p>
        </p:txBody>
      </p:sp>
      <p:sp>
        <p:nvSpPr>
          <p:cNvPr id="7" name="Text 5"/>
          <p:cNvSpPr/>
          <p:nvPr/>
        </p:nvSpPr>
        <p:spPr>
          <a:xfrm>
            <a:off x="571500" y="876895"/>
            <a:ext cx="457200" cy="21580"/>
          </a:xfrm>
          <a:prstGeom prst="roundRect">
            <a:avLst>
              <a:gd name="adj" fmla="val 64736"/>
            </a:avLst>
          </a:pr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9220" y="1357610"/>
            <a:ext cx="2495104" cy="2268587"/>
          </a:xfrm>
          <a:prstGeom prst="roundRect">
            <a:avLst>
              <a:gd name="adj" fmla="val 5038"/>
            </a:avLst>
          </a:prstGeom>
          <a:solidFill>
            <a:srgbClr val="FFFFFF"/>
          </a:solidFill>
          <a:ln/>
          <a:effectLst>
            <a:outerShdw blurRad="171450" dist="29210" dir="5400000" algn="bl" rotWithShape="0">
              <a:srgbClr val="0D1B2A">
                <a:alpha val="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7820" y="1643955"/>
            <a:ext cx="514350" cy="514350"/>
          </a:xfrm>
          <a:prstGeom prst="ellipse">
            <a:avLst/>
          </a:prstGeom>
          <a:gradFill rotWithShape="1">
            <a:gsLst>
              <a:gs pos="0">
                <a:srgbClr val="FDF3DE"/>
              </a:gs>
              <a:gs pos="100000">
                <a:srgbClr val="FAE5B0"/>
              </a:gs>
            </a:gsLst>
            <a:lin ang="2700000" scaled="1"/>
          </a:gradFill>
          <a:ln w="9525">
            <a:solidFill>
              <a:srgbClr val="E8A427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839" y="1793974"/>
            <a:ext cx="214313" cy="21431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7820" y="2301776"/>
            <a:ext cx="224169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140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560" dirty="0"/>
          </a:p>
        </p:txBody>
      </p:sp>
      <p:sp>
        <p:nvSpPr>
          <p:cNvPr id="13" name="Text 10"/>
          <p:cNvSpPr/>
          <p:nvPr/>
        </p:nvSpPr>
        <p:spPr>
          <a:xfrm>
            <a:off x="657820" y="2451646"/>
            <a:ext cx="2241694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Two</a:t>
            </a:r>
            <a:endParaRPr lang="en-US" sz="1130" dirty="0"/>
          </a:p>
        </p:txBody>
      </p:sp>
      <p:sp>
        <p:nvSpPr>
          <p:cNvPr id="14" name="Text 11"/>
          <p:cNvSpPr/>
          <p:nvPr/>
        </p:nvSpPr>
        <p:spPr>
          <a:xfrm>
            <a:off x="657820" y="2710011"/>
            <a:ext cx="2078662" cy="721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3"/>
              </a:lnSpc>
              <a:buNone/>
            </a:pPr>
            <a:r>
              <a:rPr lang="en-US" sz="82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goal or problem, identify exactly </a:t>
            </a:r>
            <a:r>
              <a:rPr lang="en-US" sz="820" b="1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contributing groups</a:t>
            </a:r>
            <a:r>
              <a:rPr lang="en-US" sz="82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If there are three or more factors, group them logically into two higher-categories.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2924324" y="2549054"/>
            <a:ext cx="400050" cy="13841"/>
          </a:xfrm>
          <a:prstGeom prst="rect">
            <a:avLst/>
          </a:prstGeom>
          <a:gradFill rotWithShape="1">
            <a:gsLst>
              <a:gs pos="0">
                <a:srgbClr val="E8A427">
                  <a:alpha val="30000"/>
                </a:srgbClr>
              </a:gs>
              <a:gs pos="50000">
                <a:srgbClr val="E8A427"/>
              </a:gs>
              <a:gs pos="100000">
                <a:srgbClr val="E8A427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6848" y="2489680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24374" y="1381674"/>
            <a:ext cx="2495252" cy="2268587"/>
          </a:xfrm>
          <a:prstGeom prst="roundRect">
            <a:avLst>
              <a:gd name="adj" fmla="val 5038"/>
            </a:avLst>
          </a:prstGeom>
          <a:solidFill>
            <a:srgbClr val="FFFFFF"/>
          </a:solidFill>
          <a:ln/>
          <a:effectLst>
            <a:outerShdw blurRad="171450" dist="29210" dir="5400000" algn="bl" rotWithShape="0">
              <a:srgbClr val="0D1B2A">
                <a:alpha val="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552974" y="1258044"/>
            <a:ext cx="257770" cy="283547"/>
          </a:xfrm>
          <a:prstGeom prst="ellipse">
            <a:avLst/>
          </a:prstGeom>
          <a:solidFill>
            <a:srgbClr val="1A3A5C"/>
          </a:solidFill>
          <a:ln/>
          <a:effectLst>
            <a:outerShdw blurRad="57150" dist="13970" dir="5400000" algn="bl" rotWithShape="0">
              <a:srgbClr val="0D1B2A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90" dirty="0"/>
          </a:p>
        </p:txBody>
      </p:sp>
      <p:sp>
        <p:nvSpPr>
          <p:cNvPr id="19" name="Text 15"/>
          <p:cNvSpPr/>
          <p:nvPr/>
        </p:nvSpPr>
        <p:spPr>
          <a:xfrm>
            <a:off x="3552974" y="1643955"/>
            <a:ext cx="514350" cy="514350"/>
          </a:xfrm>
          <a:prstGeom prst="ellipse">
            <a:avLst/>
          </a:prstGeom>
          <a:gradFill rotWithShape="1">
            <a:gsLst>
              <a:gs pos="0">
                <a:srgbClr val="F0F4F8"/>
              </a:gs>
              <a:gs pos="100000">
                <a:srgbClr val="E8EEF5"/>
              </a:gs>
            </a:gsLst>
            <a:lin ang="2700000" scaled="1"/>
          </a:gradFill>
          <a:ln w="9525">
            <a:solidFill>
              <a:srgbClr val="1A3A5C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02993" y="1793974"/>
            <a:ext cx="214313" cy="21431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552974" y="2301776"/>
            <a:ext cx="224185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140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560" dirty="0"/>
          </a:p>
        </p:txBody>
      </p:sp>
      <p:sp>
        <p:nvSpPr>
          <p:cNvPr id="22" name="Text 17"/>
          <p:cNvSpPr/>
          <p:nvPr/>
        </p:nvSpPr>
        <p:spPr>
          <a:xfrm>
            <a:off x="3552974" y="2451646"/>
            <a:ext cx="2241858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Weight %</a:t>
            </a:r>
            <a:endParaRPr lang="en-US" sz="1130" dirty="0"/>
          </a:p>
        </p:txBody>
      </p:sp>
      <p:sp>
        <p:nvSpPr>
          <p:cNvPr id="23" name="Text 18"/>
          <p:cNvSpPr/>
          <p:nvPr/>
        </p:nvSpPr>
        <p:spPr>
          <a:xfrm>
            <a:off x="3552974" y="2710011"/>
            <a:ext cx="2078813" cy="867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3"/>
              </a:lnSpc>
              <a:buNone/>
            </a:pPr>
            <a:r>
              <a:rPr lang="en-US" sz="82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contributor an </a:t>
            </a:r>
            <a:r>
              <a:rPr lang="en-US" sz="820" b="1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ease-of-impact-composite percentage</a:t>
            </a:r>
            <a:r>
              <a:rPr lang="en-US" sz="82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Which path is more achievable? More impactful? Highest return for the effort? The team decides together — by consensus.</a:t>
            </a:r>
            <a:endParaRPr lang="en-US" sz="820" dirty="0"/>
          </a:p>
        </p:txBody>
      </p:sp>
      <p:sp>
        <p:nvSpPr>
          <p:cNvPr id="24" name="Text 19"/>
          <p:cNvSpPr/>
          <p:nvPr/>
        </p:nvSpPr>
        <p:spPr>
          <a:xfrm>
            <a:off x="5819626" y="2549054"/>
            <a:ext cx="400050" cy="13841"/>
          </a:xfrm>
          <a:prstGeom prst="rect">
            <a:avLst/>
          </a:prstGeom>
          <a:gradFill rotWithShape="1">
            <a:gsLst>
              <a:gs pos="0">
                <a:srgbClr val="E8A427">
                  <a:alpha val="30000"/>
                </a:srgbClr>
              </a:gs>
              <a:gs pos="50000">
                <a:srgbClr val="E8A427"/>
              </a:gs>
              <a:gs pos="100000">
                <a:srgbClr val="E8A427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62151" y="2489680"/>
            <a:ext cx="132588" cy="1325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19676" y="1357610"/>
            <a:ext cx="2495104" cy="2268587"/>
          </a:xfrm>
          <a:prstGeom prst="roundRect">
            <a:avLst>
              <a:gd name="adj" fmla="val 5038"/>
            </a:avLst>
          </a:prstGeom>
          <a:solidFill>
            <a:srgbClr val="FFFFFF"/>
          </a:solidFill>
          <a:ln/>
          <a:effectLst>
            <a:outerShdw blurRad="171450" dist="29210" dir="5400000" algn="bl" rotWithShape="0">
              <a:srgbClr val="0D1B2A">
                <a:alpha val="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6448276" y="1258044"/>
            <a:ext cx="257770" cy="283547"/>
          </a:xfrm>
          <a:prstGeom prst="ellipse">
            <a:avLst/>
          </a:prstGeom>
          <a:solidFill>
            <a:srgbClr val="1A3A5C"/>
          </a:solidFill>
          <a:ln/>
          <a:effectLst>
            <a:outerShdw blurRad="57150" dist="13970" dir="5400000" algn="bl" rotWithShape="0">
              <a:srgbClr val="0D1B2A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90" dirty="0"/>
          </a:p>
        </p:txBody>
      </p:sp>
      <p:sp>
        <p:nvSpPr>
          <p:cNvPr id="28" name="Text 22"/>
          <p:cNvSpPr/>
          <p:nvPr/>
        </p:nvSpPr>
        <p:spPr>
          <a:xfrm>
            <a:off x="6448276" y="1643955"/>
            <a:ext cx="514350" cy="514350"/>
          </a:xfrm>
          <a:prstGeom prst="ellipse">
            <a:avLst/>
          </a:prstGeom>
          <a:gradFill rotWithShape="1">
            <a:gsLst>
              <a:gs pos="0">
                <a:srgbClr val="F0F4F8"/>
              </a:gs>
              <a:gs pos="100000">
                <a:srgbClr val="E8EEF5"/>
              </a:gs>
            </a:gsLst>
            <a:lin ang="2700000" scaled="1"/>
          </a:gradFill>
          <a:ln w="9525">
            <a:solidFill>
              <a:srgbClr val="1A3A5C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98295" y="1793974"/>
            <a:ext cx="214313" cy="21431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48276" y="2301776"/>
            <a:ext cx="224169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140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560" dirty="0"/>
          </a:p>
        </p:txBody>
      </p:sp>
      <p:sp>
        <p:nvSpPr>
          <p:cNvPr id="31" name="Text 24"/>
          <p:cNvSpPr/>
          <p:nvPr/>
        </p:nvSpPr>
        <p:spPr>
          <a:xfrm>
            <a:off x="6448276" y="2451646"/>
            <a:ext cx="2241694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Higher Path</a:t>
            </a:r>
            <a:endParaRPr lang="en-US" sz="1130" dirty="0"/>
          </a:p>
        </p:txBody>
      </p:sp>
      <p:sp>
        <p:nvSpPr>
          <p:cNvPr id="32" name="Text 25"/>
          <p:cNvSpPr/>
          <p:nvPr/>
        </p:nvSpPr>
        <p:spPr>
          <a:xfrm>
            <a:off x="6448276" y="2710011"/>
            <a:ext cx="2078662" cy="721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3"/>
              </a:lnSpc>
              <a:buNone/>
            </a:pPr>
            <a:r>
              <a:rPr lang="en-US" sz="82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effort and resources on the contributor with the </a:t>
            </a:r>
            <a:r>
              <a:rPr lang="en-US" sz="820" b="1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weight %</a:t>
            </a:r>
            <a:r>
              <a:rPr lang="en-US" sz="82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Then repeat the entire process one level deeper — until the action is clear and specific.</a:t>
            </a:r>
            <a:endParaRPr lang="en-US" sz="820" dirty="0"/>
          </a:p>
        </p:txBody>
      </p:sp>
      <p:sp>
        <p:nvSpPr>
          <p:cNvPr id="33" name="Text 26"/>
          <p:cNvSpPr/>
          <p:nvPr/>
        </p:nvSpPr>
        <p:spPr>
          <a:xfrm>
            <a:off x="571500" y="4813399"/>
            <a:ext cx="334265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kern="0" spc="30" dirty="0">
                <a:solidFill>
                  <a:srgbClr val="4A628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recursively at every level of the decision tree until clarity emerges.</a:t>
            </a:r>
            <a:endParaRPr lang="en-US" sz="68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57811" y="4811771"/>
            <a:ext cx="132588" cy="132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840266" y="4813399"/>
            <a:ext cx="80545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1A3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Binary Path</a:t>
            </a:r>
            <a:endParaRPr lang="en-US" sz="680" dirty="0"/>
          </a:p>
        </p:txBody>
      </p:sp>
      <p:sp>
        <p:nvSpPr>
          <p:cNvPr id="36" name="Text 28"/>
          <p:cNvSpPr/>
          <p:nvPr/>
        </p:nvSpPr>
        <p:spPr>
          <a:xfrm>
            <a:off x="429220" y="1356975"/>
            <a:ext cx="2495102" cy="29170"/>
          </a:xfrm>
          <a:custGeom>
            <a:avLst/>
            <a:gdLst/>
            <a:ahLst/>
            <a:cxnLst/>
            <a:rect l="l" t="t" r="r" b="b"/>
            <a:pathLst>
              <a:path w="2495102" h="29170">
                <a:moveTo>
                  <a:pt x="114300" y="0"/>
                </a:moveTo>
                <a:lnTo>
                  <a:pt x="2380802" y="0"/>
                </a:lnTo>
                <a:lnTo>
                  <a:pt x="2380802" y="0"/>
                </a:lnTo>
                <a:lnTo>
                  <a:pt x="2403101" y="2196"/>
                </a:lnTo>
                <a:lnTo>
                  <a:pt x="2424543" y="8701"/>
                </a:lnTo>
                <a:lnTo>
                  <a:pt x="2444304" y="19263"/>
                </a:lnTo>
                <a:lnTo>
                  <a:pt x="2461625" y="29170"/>
                </a:lnTo>
                <a:lnTo>
                  <a:pt x="2475839" y="29170"/>
                </a:lnTo>
                <a:lnTo>
                  <a:pt x="2486402" y="29170"/>
                </a:lnTo>
                <a:lnTo>
                  <a:pt x="2492906" y="29170"/>
                </a:lnTo>
                <a:lnTo>
                  <a:pt x="2495102" y="29170"/>
                </a:lnTo>
                <a:lnTo>
                  <a:pt x="2495102" y="29170"/>
                </a:lnTo>
                <a:lnTo>
                  <a:pt x="0" y="29170"/>
                </a:lnTo>
                <a:lnTo>
                  <a:pt x="0" y="114300"/>
                </a:lnTo>
                <a:lnTo>
                  <a:pt x="114300" y="0"/>
                </a:lnTo>
                <a:lnTo>
                  <a:pt x="92001" y="2196"/>
                </a:lnTo>
                <a:lnTo>
                  <a:pt x="70559" y="8701"/>
                </a:lnTo>
                <a:lnTo>
                  <a:pt x="50798" y="19263"/>
                </a:lnTo>
                <a:lnTo>
                  <a:pt x="33478" y="29170"/>
                </a:lnTo>
                <a:lnTo>
                  <a:pt x="19263" y="29170"/>
                </a:lnTo>
                <a:lnTo>
                  <a:pt x="8701" y="29170"/>
                </a:lnTo>
                <a:lnTo>
                  <a:pt x="2196" y="29170"/>
                </a:lnTo>
                <a:lnTo>
                  <a:pt x="0" y="29170"/>
                </a:lnTo>
                <a:close/>
              </a:path>
            </a:pathLst>
          </a:cu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3324374" y="1356975"/>
            <a:ext cx="2495255" cy="29170"/>
          </a:xfrm>
          <a:custGeom>
            <a:avLst/>
            <a:gdLst/>
            <a:ahLst/>
            <a:cxnLst/>
            <a:rect l="l" t="t" r="r" b="b"/>
            <a:pathLst>
              <a:path w="2495255" h="29170">
                <a:moveTo>
                  <a:pt x="114300" y="0"/>
                </a:moveTo>
                <a:lnTo>
                  <a:pt x="2380955" y="0"/>
                </a:lnTo>
                <a:lnTo>
                  <a:pt x="2380955" y="0"/>
                </a:lnTo>
                <a:lnTo>
                  <a:pt x="2403254" y="2196"/>
                </a:lnTo>
                <a:lnTo>
                  <a:pt x="2424695" y="8701"/>
                </a:lnTo>
                <a:lnTo>
                  <a:pt x="2444456" y="19263"/>
                </a:lnTo>
                <a:lnTo>
                  <a:pt x="2461777" y="29170"/>
                </a:lnTo>
                <a:lnTo>
                  <a:pt x="2475992" y="29170"/>
                </a:lnTo>
                <a:lnTo>
                  <a:pt x="2486554" y="29170"/>
                </a:lnTo>
                <a:lnTo>
                  <a:pt x="2493058" y="29170"/>
                </a:lnTo>
                <a:lnTo>
                  <a:pt x="2495255" y="29170"/>
                </a:lnTo>
                <a:lnTo>
                  <a:pt x="2495255" y="29170"/>
                </a:lnTo>
                <a:lnTo>
                  <a:pt x="0" y="29170"/>
                </a:lnTo>
                <a:lnTo>
                  <a:pt x="0" y="114300"/>
                </a:lnTo>
                <a:lnTo>
                  <a:pt x="114300" y="0"/>
                </a:lnTo>
                <a:lnTo>
                  <a:pt x="92001" y="2196"/>
                </a:lnTo>
                <a:lnTo>
                  <a:pt x="70559" y="8701"/>
                </a:lnTo>
                <a:lnTo>
                  <a:pt x="50798" y="19263"/>
                </a:lnTo>
                <a:lnTo>
                  <a:pt x="33478" y="29170"/>
                </a:lnTo>
                <a:lnTo>
                  <a:pt x="19263" y="29170"/>
                </a:lnTo>
                <a:lnTo>
                  <a:pt x="8701" y="29170"/>
                </a:lnTo>
                <a:lnTo>
                  <a:pt x="2196" y="29170"/>
                </a:lnTo>
                <a:lnTo>
                  <a:pt x="0" y="29170"/>
                </a:lnTo>
                <a:close/>
              </a:path>
            </a:pathLst>
          </a:custGeom>
          <a:solidFill>
            <a:srgbClr val="E8A427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6219676" y="1356975"/>
            <a:ext cx="2495102" cy="29170"/>
          </a:xfrm>
          <a:custGeom>
            <a:avLst/>
            <a:gdLst/>
            <a:ahLst/>
            <a:cxnLst/>
            <a:rect l="l" t="t" r="r" b="b"/>
            <a:pathLst>
              <a:path w="2495102" h="29170">
                <a:moveTo>
                  <a:pt x="114300" y="0"/>
                </a:moveTo>
                <a:lnTo>
                  <a:pt x="2380802" y="0"/>
                </a:lnTo>
                <a:lnTo>
                  <a:pt x="2380802" y="0"/>
                </a:lnTo>
                <a:lnTo>
                  <a:pt x="2403101" y="2196"/>
                </a:lnTo>
                <a:lnTo>
                  <a:pt x="2424543" y="8701"/>
                </a:lnTo>
                <a:lnTo>
                  <a:pt x="2444304" y="19263"/>
                </a:lnTo>
                <a:lnTo>
                  <a:pt x="2461625" y="29170"/>
                </a:lnTo>
                <a:lnTo>
                  <a:pt x="2475839" y="29170"/>
                </a:lnTo>
                <a:lnTo>
                  <a:pt x="2486402" y="29170"/>
                </a:lnTo>
                <a:lnTo>
                  <a:pt x="2492906" y="29170"/>
                </a:lnTo>
                <a:lnTo>
                  <a:pt x="2495102" y="29170"/>
                </a:lnTo>
                <a:lnTo>
                  <a:pt x="2495102" y="29170"/>
                </a:lnTo>
                <a:lnTo>
                  <a:pt x="0" y="29170"/>
                </a:lnTo>
                <a:lnTo>
                  <a:pt x="0" y="114300"/>
                </a:lnTo>
                <a:lnTo>
                  <a:pt x="114300" y="0"/>
                </a:lnTo>
                <a:lnTo>
                  <a:pt x="92001" y="2196"/>
                </a:lnTo>
                <a:lnTo>
                  <a:pt x="70559" y="8701"/>
                </a:lnTo>
                <a:lnTo>
                  <a:pt x="50798" y="19263"/>
                </a:lnTo>
                <a:lnTo>
                  <a:pt x="33478" y="29170"/>
                </a:lnTo>
                <a:lnTo>
                  <a:pt x="19263" y="29170"/>
                </a:lnTo>
                <a:lnTo>
                  <a:pt x="8701" y="29170"/>
                </a:lnTo>
                <a:lnTo>
                  <a:pt x="2196" y="29170"/>
                </a:lnTo>
                <a:lnTo>
                  <a:pt x="0" y="29170"/>
                </a:lnTo>
                <a:close/>
              </a:path>
            </a:pathLst>
          </a:custGeom>
          <a:solidFill>
            <a:srgbClr val="E8A427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7820" y="1258044"/>
            <a:ext cx="257770" cy="283547"/>
          </a:xfrm>
          <a:prstGeom prst="ellipse">
            <a:avLst/>
          </a:prstGeom>
          <a:solidFill>
            <a:srgbClr val="E8A427"/>
          </a:solidFill>
          <a:ln/>
          <a:effectLst>
            <a:outerShdw blurRad="57150" dist="13970" dir="5400000" algn="bl" rotWithShape="0">
              <a:srgbClr val="0D1B2A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kern="0" spc="3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9966" y="0"/>
            <a:ext cx="2714034" cy="2571750"/>
          </a:xfrm>
          <a:prstGeom prst="ellipse">
            <a:avLst/>
          </a:prstGeom>
          <a:gradFill rotWithShape="1">
            <a:gsLst>
              <a:gs pos="0">
                <a:srgbClr val="2A9D8F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285534"/>
            <a:ext cx="1857966" cy="1857966"/>
          </a:xfrm>
          <a:prstGeom prst="ellipse">
            <a:avLst/>
          </a:prstGeom>
          <a:gradFill rotWithShape="1">
            <a:gsLst>
              <a:gs pos="0">
                <a:srgbClr val="E8A427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759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759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759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342900"/>
            <a:ext cx="223170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36" dirty="0">
                <a:solidFill>
                  <a:srgbClr val="3D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WEIGHTED CONTRIBUTOR MODEL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514350" y="504081"/>
            <a:ext cx="8521065" cy="355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97"/>
              </a:lnSpc>
              <a:spcAft>
                <a:spcPts val="340"/>
              </a:spcAft>
              <a:buNone/>
            </a:pPr>
            <a:r>
              <a:rPr lang="en-US" sz="2590" kern="0" spc="-26" dirty="0">
                <a:solidFill>
                  <a:srgbClr val="E8A4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Assign a Weight to Every Fork</a:t>
            </a:r>
            <a:endParaRPr lang="en-US" sz="2590" dirty="0"/>
          </a:p>
        </p:txBody>
      </p:sp>
      <p:sp>
        <p:nvSpPr>
          <p:cNvPr id="9" name="Text 7"/>
          <p:cNvSpPr/>
          <p:nvPr/>
        </p:nvSpPr>
        <p:spPr>
          <a:xfrm>
            <a:off x="514350" y="902345"/>
            <a:ext cx="8926830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en-US" sz="960" i="1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assign % likelihood of impact — not probability of occurrence — guiding focus.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514350" y="1414760"/>
            <a:ext cx="2590800" cy="2429470"/>
          </a:xfrm>
          <a:prstGeom prst="roundRect">
            <a:avLst>
              <a:gd name="adj" fmla="val 4705"/>
            </a:avLst>
          </a:prstGeom>
          <a:solidFill>
            <a:srgbClr val="1A3A5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962150" y="1414760"/>
            <a:ext cx="1143000" cy="1142955"/>
          </a:xfrm>
          <a:custGeom>
            <a:avLst/>
            <a:gdLst/>
            <a:ahLst/>
            <a:cxnLst/>
            <a:rect l="l" t="t" r="r" b="b"/>
            <a:pathLst>
              <a:path w="1143000" h="1142955">
                <a:moveTo>
                  <a:pt x="1143000" y="1054819"/>
                </a:moveTo>
                <a:lnTo>
                  <a:pt x="1086938" y="1083116"/>
                </a:lnTo>
                <a:lnTo>
                  <a:pt x="1014303" y="1109106"/>
                </a:lnTo>
                <a:lnTo>
                  <a:pt x="939470" y="1127850"/>
                </a:lnTo>
                <a:lnTo>
                  <a:pt x="863160" y="1139170"/>
                </a:lnTo>
                <a:lnTo>
                  <a:pt x="786108" y="1142955"/>
                </a:lnTo>
                <a:lnTo>
                  <a:pt x="709056" y="1139170"/>
                </a:lnTo>
                <a:lnTo>
                  <a:pt x="632746" y="1127850"/>
                </a:lnTo>
                <a:lnTo>
                  <a:pt x="557913" y="1109106"/>
                </a:lnTo>
                <a:lnTo>
                  <a:pt x="485277" y="1083116"/>
                </a:lnTo>
                <a:lnTo>
                  <a:pt x="415539" y="1050133"/>
                </a:lnTo>
                <a:lnTo>
                  <a:pt x="349370" y="1010472"/>
                </a:lnTo>
                <a:lnTo>
                  <a:pt x="287406" y="964517"/>
                </a:lnTo>
                <a:lnTo>
                  <a:pt x="230246" y="912710"/>
                </a:lnTo>
                <a:lnTo>
                  <a:pt x="178438" y="855549"/>
                </a:lnTo>
                <a:lnTo>
                  <a:pt x="132483" y="793586"/>
                </a:lnTo>
                <a:lnTo>
                  <a:pt x="92823" y="727416"/>
                </a:lnTo>
                <a:lnTo>
                  <a:pt x="59839" y="657678"/>
                </a:lnTo>
                <a:lnTo>
                  <a:pt x="33850" y="585042"/>
                </a:lnTo>
                <a:lnTo>
                  <a:pt x="15105" y="510209"/>
                </a:lnTo>
                <a:lnTo>
                  <a:pt x="3785" y="433899"/>
                </a:lnTo>
                <a:lnTo>
                  <a:pt x="0" y="356847"/>
                </a:lnTo>
                <a:lnTo>
                  <a:pt x="3785" y="279795"/>
                </a:lnTo>
                <a:lnTo>
                  <a:pt x="15105" y="203485"/>
                </a:lnTo>
                <a:lnTo>
                  <a:pt x="33850" y="128652"/>
                </a:lnTo>
                <a:lnTo>
                  <a:pt x="59839" y="56017"/>
                </a:lnTo>
                <a:lnTo>
                  <a:pt x="88102" y="0"/>
                </a:lnTo>
                <a:lnTo>
                  <a:pt x="1028700" y="0"/>
                </a:lnTo>
                <a:lnTo>
                  <a:pt x="1050999" y="2196"/>
                </a:lnTo>
                <a:lnTo>
                  <a:pt x="1072441" y="8701"/>
                </a:lnTo>
                <a:lnTo>
                  <a:pt x="1092202" y="19263"/>
                </a:lnTo>
                <a:lnTo>
                  <a:pt x="1109522" y="33478"/>
                </a:lnTo>
                <a:lnTo>
                  <a:pt x="1123737" y="50798"/>
                </a:lnTo>
                <a:lnTo>
                  <a:pt x="1134299" y="70559"/>
                </a:lnTo>
                <a:lnTo>
                  <a:pt x="1140804" y="92001"/>
                </a:lnTo>
                <a:lnTo>
                  <a:pt x="1143000" y="114300"/>
                </a:lnTo>
                <a:close/>
              </a:path>
            </a:pathLst>
          </a:custGeom>
          <a:gradFill rotWithShape="1">
            <a:gsLst>
              <a:gs pos="0">
                <a:srgbClr val="E8A427">
                  <a:alpha val="1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55180" y="1558230"/>
            <a:ext cx="822630" cy="184100"/>
          </a:xfrm>
          <a:prstGeom prst="roundRect">
            <a:avLst>
              <a:gd name="adj" fmla="val 23455"/>
            </a:avLst>
          </a:prstGeom>
          <a:solidFill>
            <a:srgbClr val="E8A427">
              <a:alpha val="12000"/>
            </a:srgbClr>
          </a:solidFill>
          <a:ln w="9525">
            <a:solidFill>
              <a:srgbClr val="E8A427">
                <a:alpha val="30000"/>
              </a:srgbClr>
            </a:solidFill>
          </a:ln>
        </p:spPr>
        <p:txBody>
          <a:bodyPr wrap="none" lIns="71120" tIns="29210" rIns="71120" bIns="29210" rtlCol="0" anchor="t"/>
          <a:lstStyle/>
          <a:p>
            <a:pPr marL="0" indent="0" algn="l">
              <a:buNone/>
            </a:pPr>
            <a:r>
              <a:rPr lang="en-US" sz="560" b="1" kern="0" spc="78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PATH</a:t>
            </a:r>
            <a:endParaRPr lang="en-US" sz="560" dirty="0"/>
          </a:p>
        </p:txBody>
      </p:sp>
      <p:sp>
        <p:nvSpPr>
          <p:cNvPr id="13" name="Text 11"/>
          <p:cNvSpPr/>
          <p:nvPr/>
        </p:nvSpPr>
        <p:spPr>
          <a:xfrm>
            <a:off x="742950" y="1672530"/>
            <a:ext cx="586422" cy="165050"/>
          </a:xfrm>
          <a:prstGeom prst="roundRect">
            <a:avLst>
              <a:gd name="adj" fmla="val 86950"/>
            </a:avLst>
          </a:prstGeom>
          <a:solidFill>
            <a:srgbClr val="E8A427">
              <a:alpha val="15000"/>
            </a:srgbClr>
          </a:solidFill>
          <a:ln/>
        </p:spPr>
        <p:txBody>
          <a:bodyPr wrap="none" lIns="71120" tIns="29210" rIns="71120" bIns="29210" rtlCol="0" anchor="t"/>
          <a:lstStyle/>
          <a:p>
            <a:pPr marL="0" indent="0" algn="l">
              <a:buNone/>
            </a:pPr>
            <a:r>
              <a:rPr lang="en-US" sz="560" b="1" kern="0" spc="10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560" dirty="0"/>
          </a:p>
        </p:txBody>
      </p:sp>
      <p:sp>
        <p:nvSpPr>
          <p:cNvPr id="14" name="Text 12"/>
          <p:cNvSpPr/>
          <p:nvPr/>
        </p:nvSpPr>
        <p:spPr>
          <a:xfrm>
            <a:off x="742950" y="1981051"/>
            <a:ext cx="1261876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4950" b="1" kern="0" spc="-148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950" dirty="0"/>
          </a:p>
        </p:txBody>
      </p:sp>
      <p:sp>
        <p:nvSpPr>
          <p:cNvPr id="15" name="Text 13"/>
          <p:cNvSpPr/>
          <p:nvPr/>
        </p:nvSpPr>
        <p:spPr>
          <a:xfrm>
            <a:off x="742950" y="2680692"/>
            <a:ext cx="285750" cy="21580"/>
          </a:xfrm>
          <a:prstGeom prst="roundRect">
            <a:avLst>
              <a:gd name="adj" fmla="val 64736"/>
            </a:avLst>
          </a:pr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2950" y="2802582"/>
            <a:ext cx="1471761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Increase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742950" y="3062436"/>
            <a:ext cx="202608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i="1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ease of impact — primary focus</a:t>
            </a:r>
            <a:endParaRPr lang="en-US" sz="84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8339" y="3407420"/>
            <a:ext cx="236190" cy="236190"/>
          </a:xfrm>
          <a:prstGeom prst="rect">
            <a:avLst/>
          </a:prstGeom>
        </p:spPr>
      </p:pic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alphaModFix amt="13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1342" y="2825502"/>
            <a:ext cx="589508" cy="5895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276600" y="1414760"/>
            <a:ext cx="2590800" cy="2429470"/>
          </a:xfrm>
          <a:prstGeom prst="roundRect">
            <a:avLst>
              <a:gd name="adj" fmla="val 4705"/>
            </a:avLst>
          </a:prstGeom>
          <a:solidFill>
            <a:srgbClr val="1A3A5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724400" y="1414760"/>
            <a:ext cx="1143000" cy="1142955"/>
          </a:xfrm>
          <a:custGeom>
            <a:avLst/>
            <a:gdLst/>
            <a:ahLst/>
            <a:cxnLst/>
            <a:rect l="l" t="t" r="r" b="b"/>
            <a:pathLst>
              <a:path w="1143000" h="1142955">
                <a:moveTo>
                  <a:pt x="1143000" y="1054819"/>
                </a:moveTo>
                <a:lnTo>
                  <a:pt x="1086938" y="1083116"/>
                </a:lnTo>
                <a:lnTo>
                  <a:pt x="1014303" y="1109106"/>
                </a:lnTo>
                <a:lnTo>
                  <a:pt x="939470" y="1127850"/>
                </a:lnTo>
                <a:lnTo>
                  <a:pt x="863160" y="1139170"/>
                </a:lnTo>
                <a:lnTo>
                  <a:pt x="786108" y="1142955"/>
                </a:lnTo>
                <a:lnTo>
                  <a:pt x="709056" y="1139170"/>
                </a:lnTo>
                <a:lnTo>
                  <a:pt x="632746" y="1127850"/>
                </a:lnTo>
                <a:lnTo>
                  <a:pt x="557913" y="1109106"/>
                </a:lnTo>
                <a:lnTo>
                  <a:pt x="485277" y="1083116"/>
                </a:lnTo>
                <a:lnTo>
                  <a:pt x="415539" y="1050133"/>
                </a:lnTo>
                <a:lnTo>
                  <a:pt x="349370" y="1010472"/>
                </a:lnTo>
                <a:lnTo>
                  <a:pt x="287406" y="964517"/>
                </a:lnTo>
                <a:lnTo>
                  <a:pt x="230246" y="912710"/>
                </a:lnTo>
                <a:lnTo>
                  <a:pt x="178438" y="855549"/>
                </a:lnTo>
                <a:lnTo>
                  <a:pt x="132483" y="793586"/>
                </a:lnTo>
                <a:lnTo>
                  <a:pt x="92823" y="727416"/>
                </a:lnTo>
                <a:lnTo>
                  <a:pt x="59839" y="657678"/>
                </a:lnTo>
                <a:lnTo>
                  <a:pt x="33850" y="585042"/>
                </a:lnTo>
                <a:lnTo>
                  <a:pt x="15105" y="510209"/>
                </a:lnTo>
                <a:lnTo>
                  <a:pt x="3785" y="433899"/>
                </a:lnTo>
                <a:lnTo>
                  <a:pt x="0" y="356847"/>
                </a:lnTo>
                <a:lnTo>
                  <a:pt x="3785" y="279795"/>
                </a:lnTo>
                <a:lnTo>
                  <a:pt x="15105" y="203485"/>
                </a:lnTo>
                <a:lnTo>
                  <a:pt x="33850" y="128652"/>
                </a:lnTo>
                <a:lnTo>
                  <a:pt x="59839" y="56017"/>
                </a:lnTo>
                <a:lnTo>
                  <a:pt x="88102" y="0"/>
                </a:lnTo>
                <a:lnTo>
                  <a:pt x="1028700" y="0"/>
                </a:lnTo>
                <a:lnTo>
                  <a:pt x="1050999" y="2196"/>
                </a:lnTo>
                <a:lnTo>
                  <a:pt x="1072441" y="8701"/>
                </a:lnTo>
                <a:lnTo>
                  <a:pt x="1092202" y="19263"/>
                </a:lnTo>
                <a:lnTo>
                  <a:pt x="1109522" y="33478"/>
                </a:lnTo>
                <a:lnTo>
                  <a:pt x="1123737" y="50798"/>
                </a:lnTo>
                <a:lnTo>
                  <a:pt x="1134299" y="70559"/>
                </a:lnTo>
                <a:lnTo>
                  <a:pt x="1140804" y="92001"/>
                </a:lnTo>
                <a:lnTo>
                  <a:pt x="1143000" y="114300"/>
                </a:lnTo>
                <a:close/>
              </a:path>
            </a:pathLst>
          </a:custGeom>
          <a:gradFill rotWithShape="1">
            <a:gsLst>
              <a:gs pos="0">
                <a:srgbClr val="3DBCAC">
                  <a:alpha val="1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505200" y="1672530"/>
            <a:ext cx="979444" cy="165050"/>
          </a:xfrm>
          <a:prstGeom prst="roundRect">
            <a:avLst>
              <a:gd name="adj" fmla="val 86950"/>
            </a:avLst>
          </a:prstGeom>
          <a:solidFill>
            <a:srgbClr val="3DBCAC">
              <a:alpha val="15000"/>
            </a:srgbClr>
          </a:solidFill>
          <a:ln/>
        </p:spPr>
        <p:txBody>
          <a:bodyPr wrap="none" lIns="71120" tIns="29210" rIns="71120" bIns="29210" rtlCol="0" anchor="t"/>
          <a:lstStyle/>
          <a:p>
            <a:pPr marL="0" indent="0" algn="l">
              <a:buNone/>
            </a:pPr>
            <a:r>
              <a:rPr lang="en-US" sz="560" b="1" kern="0" spc="101" dirty="0">
                <a:solidFill>
                  <a:srgbClr val="3D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560" dirty="0"/>
          </a:p>
        </p:txBody>
      </p:sp>
      <p:sp>
        <p:nvSpPr>
          <p:cNvPr id="23" name="Text 19"/>
          <p:cNvSpPr/>
          <p:nvPr/>
        </p:nvSpPr>
        <p:spPr>
          <a:xfrm>
            <a:off x="3505200" y="1981051"/>
            <a:ext cx="1261876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4950" b="1" kern="0" spc="-148" dirty="0">
                <a:solidFill>
                  <a:srgbClr val="3D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950" dirty="0"/>
          </a:p>
        </p:txBody>
      </p:sp>
      <p:sp>
        <p:nvSpPr>
          <p:cNvPr id="24" name="Text 20"/>
          <p:cNvSpPr/>
          <p:nvPr/>
        </p:nvSpPr>
        <p:spPr>
          <a:xfrm>
            <a:off x="3505200" y="2680692"/>
            <a:ext cx="285750" cy="21580"/>
          </a:xfrm>
          <a:prstGeom prst="roundRect">
            <a:avLst>
              <a:gd name="adj" fmla="val 64736"/>
            </a:avLst>
          </a:prstGeom>
          <a:solidFill>
            <a:srgbClr val="3DBCA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3505200" y="2802582"/>
            <a:ext cx="1278582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240" dirty="0"/>
          </a:p>
        </p:txBody>
      </p:sp>
      <p:sp>
        <p:nvSpPr>
          <p:cNvPr id="26" name="Text 22"/>
          <p:cNvSpPr/>
          <p:nvPr/>
        </p:nvSpPr>
        <p:spPr>
          <a:xfrm>
            <a:off x="3505200" y="3062436"/>
            <a:ext cx="195470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i="1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pursued — but secondary branch</a:t>
            </a:r>
            <a:endParaRPr lang="en-US" sz="84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0589" y="3407420"/>
            <a:ext cx="236190" cy="236190"/>
          </a:xfrm>
          <a:prstGeom prst="rect">
            <a:avLst/>
          </a:prstGeom>
        </p:spPr>
      </p:pic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3592" y="2825502"/>
            <a:ext cx="589508" cy="5895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038850" y="1414760"/>
            <a:ext cx="2590800" cy="2429470"/>
          </a:xfrm>
          <a:prstGeom prst="roundRect">
            <a:avLst>
              <a:gd name="adj" fmla="val 4705"/>
            </a:avLst>
          </a:prstGeom>
          <a:solidFill>
            <a:srgbClr val="1A3A5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7486650" y="1414760"/>
            <a:ext cx="1143000" cy="1142955"/>
          </a:xfrm>
          <a:custGeom>
            <a:avLst/>
            <a:gdLst/>
            <a:ahLst/>
            <a:cxnLst/>
            <a:rect l="l" t="t" r="r" b="b"/>
            <a:pathLst>
              <a:path w="1143000" h="1142955">
                <a:moveTo>
                  <a:pt x="1143000" y="1054819"/>
                </a:moveTo>
                <a:lnTo>
                  <a:pt x="1086938" y="1083116"/>
                </a:lnTo>
                <a:lnTo>
                  <a:pt x="1014303" y="1109106"/>
                </a:lnTo>
                <a:lnTo>
                  <a:pt x="939470" y="1127850"/>
                </a:lnTo>
                <a:lnTo>
                  <a:pt x="863160" y="1139170"/>
                </a:lnTo>
                <a:lnTo>
                  <a:pt x="786108" y="1142955"/>
                </a:lnTo>
                <a:lnTo>
                  <a:pt x="709056" y="1139170"/>
                </a:lnTo>
                <a:lnTo>
                  <a:pt x="632746" y="1127850"/>
                </a:lnTo>
                <a:lnTo>
                  <a:pt x="557913" y="1109106"/>
                </a:lnTo>
                <a:lnTo>
                  <a:pt x="485277" y="1083116"/>
                </a:lnTo>
                <a:lnTo>
                  <a:pt x="415539" y="1050133"/>
                </a:lnTo>
                <a:lnTo>
                  <a:pt x="349370" y="1010472"/>
                </a:lnTo>
                <a:lnTo>
                  <a:pt x="287406" y="964517"/>
                </a:lnTo>
                <a:lnTo>
                  <a:pt x="230246" y="912710"/>
                </a:lnTo>
                <a:lnTo>
                  <a:pt x="178438" y="855549"/>
                </a:lnTo>
                <a:lnTo>
                  <a:pt x="132483" y="793586"/>
                </a:lnTo>
                <a:lnTo>
                  <a:pt x="92823" y="727416"/>
                </a:lnTo>
                <a:lnTo>
                  <a:pt x="59839" y="657678"/>
                </a:lnTo>
                <a:lnTo>
                  <a:pt x="33850" y="585042"/>
                </a:lnTo>
                <a:lnTo>
                  <a:pt x="15105" y="510209"/>
                </a:lnTo>
                <a:lnTo>
                  <a:pt x="3785" y="433899"/>
                </a:lnTo>
                <a:lnTo>
                  <a:pt x="0" y="356847"/>
                </a:lnTo>
                <a:lnTo>
                  <a:pt x="3785" y="279795"/>
                </a:lnTo>
                <a:lnTo>
                  <a:pt x="15105" y="203485"/>
                </a:lnTo>
                <a:lnTo>
                  <a:pt x="33850" y="128652"/>
                </a:lnTo>
                <a:lnTo>
                  <a:pt x="59839" y="56017"/>
                </a:lnTo>
                <a:lnTo>
                  <a:pt x="88102" y="0"/>
                </a:lnTo>
                <a:lnTo>
                  <a:pt x="1028700" y="0"/>
                </a:lnTo>
                <a:lnTo>
                  <a:pt x="1050999" y="2196"/>
                </a:lnTo>
                <a:lnTo>
                  <a:pt x="1072441" y="8701"/>
                </a:lnTo>
                <a:lnTo>
                  <a:pt x="1092202" y="19263"/>
                </a:lnTo>
                <a:lnTo>
                  <a:pt x="1109522" y="33478"/>
                </a:lnTo>
                <a:lnTo>
                  <a:pt x="1123737" y="50798"/>
                </a:lnTo>
                <a:lnTo>
                  <a:pt x="1134299" y="70559"/>
                </a:lnTo>
                <a:lnTo>
                  <a:pt x="1140804" y="92001"/>
                </a:lnTo>
                <a:lnTo>
                  <a:pt x="1143000" y="114300"/>
                </a:lnTo>
                <a:close/>
              </a:path>
            </a:pathLst>
          </a:custGeom>
          <a:gradFill rotWithShape="1">
            <a:gsLst>
              <a:gs pos="0">
                <a:srgbClr val="8FAFC8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6267450" y="1672530"/>
            <a:ext cx="611469" cy="165050"/>
          </a:xfrm>
          <a:prstGeom prst="roundRect">
            <a:avLst>
              <a:gd name="adj" fmla="val 86950"/>
            </a:avLst>
          </a:prstGeom>
          <a:solidFill>
            <a:srgbClr val="8FAFC8">
              <a:alpha val="12000"/>
            </a:srgbClr>
          </a:solidFill>
          <a:ln/>
        </p:spPr>
        <p:txBody>
          <a:bodyPr wrap="none" lIns="71120" tIns="29210" rIns="71120" bIns="29210" rtlCol="0" anchor="t"/>
          <a:lstStyle/>
          <a:p>
            <a:pPr marL="0" indent="0" algn="l">
              <a:buNone/>
            </a:pPr>
            <a:r>
              <a:rPr lang="en-US" sz="560" b="1" kern="0" spc="101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560" dirty="0"/>
          </a:p>
        </p:txBody>
      </p:sp>
      <p:sp>
        <p:nvSpPr>
          <p:cNvPr id="32" name="Text 26"/>
          <p:cNvSpPr/>
          <p:nvPr/>
        </p:nvSpPr>
        <p:spPr>
          <a:xfrm>
            <a:off x="6267450" y="1981051"/>
            <a:ext cx="347387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4950" b="1" kern="0" spc="-148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950" dirty="0"/>
          </a:p>
        </p:txBody>
      </p:sp>
      <p:sp>
        <p:nvSpPr>
          <p:cNvPr id="33" name="Text 27"/>
          <p:cNvSpPr/>
          <p:nvPr/>
        </p:nvSpPr>
        <p:spPr>
          <a:xfrm>
            <a:off x="6267450" y="2680692"/>
            <a:ext cx="285750" cy="21580"/>
          </a:xfrm>
          <a:prstGeom prst="roundRect">
            <a:avLst>
              <a:gd name="adj" fmla="val 64736"/>
            </a:avLst>
          </a:prstGeom>
          <a:solidFill>
            <a:srgbClr val="8FAFC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6267450" y="2802582"/>
            <a:ext cx="1906905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— Always</a:t>
            </a:r>
            <a:endParaRPr lang="en-US" sz="1240" dirty="0"/>
          </a:p>
        </p:txBody>
      </p:sp>
      <p:sp>
        <p:nvSpPr>
          <p:cNvPr id="35" name="Text 29"/>
          <p:cNvSpPr/>
          <p:nvPr/>
        </p:nvSpPr>
        <p:spPr>
          <a:xfrm>
            <a:off x="6267450" y="3062436"/>
            <a:ext cx="2176272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i="1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3. Never 4. Two logical groups, always.</a:t>
            </a:r>
            <a:endParaRPr lang="en-US" sz="84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49977" y="3364557"/>
            <a:ext cx="279053" cy="279053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267450" y="3269010"/>
            <a:ext cx="5680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8FAFC8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20" dirty="0"/>
          </a:p>
        </p:txBody>
      </p:sp>
      <p:sp>
        <p:nvSpPr>
          <p:cNvPr id="38" name="Text 31"/>
          <p:cNvSpPr/>
          <p:nvPr/>
        </p:nvSpPr>
        <p:spPr>
          <a:xfrm>
            <a:off x="6376243" y="3269010"/>
            <a:ext cx="2881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FAFC8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620" dirty="0"/>
          </a:p>
        </p:txBody>
      </p:sp>
      <p:sp>
        <p:nvSpPr>
          <p:cNvPr id="39" name="Text 32"/>
          <p:cNvSpPr/>
          <p:nvPr/>
        </p:nvSpPr>
        <p:spPr>
          <a:xfrm>
            <a:off x="6459587" y="3269010"/>
            <a:ext cx="5680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8FAFC8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20" dirty="0"/>
          </a:p>
        </p:txBody>
      </p:sp>
      <p:sp>
        <p:nvSpPr>
          <p:cNvPr id="40" name="Text 33"/>
          <p:cNvSpPr/>
          <p:nvPr/>
        </p:nvSpPr>
        <p:spPr>
          <a:xfrm>
            <a:off x="6568380" y="3269010"/>
            <a:ext cx="2881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FAFC8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620" dirty="0"/>
          </a:p>
        </p:txBody>
      </p:sp>
      <p:sp>
        <p:nvSpPr>
          <p:cNvPr id="41" name="Text 34"/>
          <p:cNvSpPr/>
          <p:nvPr/>
        </p:nvSpPr>
        <p:spPr>
          <a:xfrm>
            <a:off x="6651724" y="3269010"/>
            <a:ext cx="53337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i="1" dirty="0">
                <a:solidFill>
                  <a:srgbClr val="8FAFC8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binary</a:t>
            </a:r>
            <a:endParaRPr lang="en-US" sz="620" dirty="0"/>
          </a:p>
        </p:txBody>
      </p:sp>
      <p:sp>
        <p:nvSpPr>
          <p:cNvPr id="42" name="Text 35"/>
          <p:cNvSpPr/>
          <p:nvPr/>
        </p:nvSpPr>
        <p:spPr>
          <a:xfrm>
            <a:off x="514350" y="4849862"/>
            <a:ext cx="2117973" cy="7590"/>
          </a:xfrm>
          <a:prstGeom prst="rect">
            <a:avLst/>
          </a:prstGeom>
          <a:solidFill>
            <a:srgbClr val="8FAFC8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2859286" y="4778425"/>
            <a:ext cx="389190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i="1" kern="0" spc="8" dirty="0">
                <a:solidFill>
                  <a:srgbClr val="8FAFC8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weights are set by consensus with domain experts — not by algorithm.</a:t>
            </a:r>
            <a:endParaRPr lang="en-US" sz="790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15080" y="4787363"/>
            <a:ext cx="132588" cy="13258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511677" y="4849862"/>
            <a:ext cx="2117973" cy="7590"/>
          </a:xfrm>
          <a:prstGeom prst="rect">
            <a:avLst/>
          </a:prstGeom>
          <a:solidFill>
            <a:srgbClr val="8FAFC8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514350" y="1414760"/>
            <a:ext cx="2590800" cy="2429466"/>
          </a:xfrm>
          <a:prstGeom prst="roundRect">
            <a:avLst>
              <a:gd name="adj" fmla="val 4705"/>
            </a:avLst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3276600" y="1414760"/>
            <a:ext cx="2590800" cy="2429466"/>
          </a:xfrm>
          <a:prstGeom prst="roundRect">
            <a:avLst>
              <a:gd name="adj" fmla="val 4705"/>
            </a:avLst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6038850" y="1414760"/>
            <a:ext cx="2590800" cy="2429466"/>
          </a:xfrm>
          <a:prstGeom prst="roundRect">
            <a:avLst>
              <a:gd name="adj" fmla="val 4705"/>
            </a:avLst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1"/>
          <p:cNvSpPr/>
          <p:nvPr/>
        </p:nvSpPr>
        <p:spPr>
          <a:xfrm>
            <a:off x="2614295" y="398115"/>
            <a:ext cx="285750" cy="7590"/>
          </a:xfrm>
          <a:prstGeom prst="rect">
            <a:avLst/>
          </a:prstGeom>
          <a:solidFill>
            <a:srgbClr val="3DBCAC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D4AB084-FB74-8465-896C-A719C700293A}"/>
              </a:ext>
            </a:extLst>
          </p:cNvPr>
          <p:cNvSpPr/>
          <p:nvPr/>
        </p:nvSpPr>
        <p:spPr>
          <a:xfrm>
            <a:off x="2958339" y="1043607"/>
            <a:ext cx="1723290" cy="325888"/>
          </a:xfrm>
          <a:custGeom>
            <a:avLst/>
            <a:gdLst>
              <a:gd name="csX0" fmla="*/ 2647950 w 2647950"/>
              <a:gd name="csY0" fmla="*/ 0 h 594480"/>
              <a:gd name="csX1" fmla="*/ 0 w 2647950"/>
              <a:gd name="csY1" fmla="*/ 594480 h 594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47950" h="594480">
                <a:moveTo>
                  <a:pt x="2647950" y="0"/>
                </a:moveTo>
                <a:lnTo>
                  <a:pt x="0" y="594480"/>
                </a:lnTo>
              </a:path>
            </a:pathLst>
          </a:custGeom>
          <a:ln w="23813" cap="rnd">
            <a:solidFill>
              <a:srgbClr val="E8A42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B22FA77D-0214-D7D7-BC52-E0D2D96B5810}"/>
              </a:ext>
            </a:extLst>
          </p:cNvPr>
          <p:cNvSpPr/>
          <p:nvPr/>
        </p:nvSpPr>
        <p:spPr>
          <a:xfrm>
            <a:off x="5111006" y="1037096"/>
            <a:ext cx="1832653" cy="332399"/>
          </a:xfrm>
          <a:custGeom>
            <a:avLst/>
            <a:gdLst>
              <a:gd name="csX0" fmla="*/ 0 w 2647950"/>
              <a:gd name="csY0" fmla="*/ 0 h 594480"/>
              <a:gd name="csX1" fmla="*/ 2647950 w 2647950"/>
              <a:gd name="csY1" fmla="*/ 594480 h 594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47950" h="594480">
                <a:moveTo>
                  <a:pt x="0" y="0"/>
                </a:moveTo>
                <a:lnTo>
                  <a:pt x="2647950" y="594480"/>
                </a:lnTo>
              </a:path>
            </a:pathLst>
          </a:custGeom>
          <a:ln w="17145" cap="rnd">
            <a:solidFill>
              <a:srgbClr val="4A8FA0"/>
            </a:solidFill>
            <a:custDash>
              <a:ds d="375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2D1513B-59A6-92F7-6369-88CFFC63B083}"/>
              </a:ext>
            </a:extLst>
          </p:cNvPr>
          <p:cNvSpPr/>
          <p:nvPr/>
        </p:nvSpPr>
        <p:spPr>
          <a:xfrm>
            <a:off x="1872489" y="1681870"/>
            <a:ext cx="1051778" cy="511188"/>
          </a:xfrm>
          <a:custGeom>
            <a:avLst/>
            <a:gdLst>
              <a:gd name="csX0" fmla="*/ 1419225 w 1419225"/>
              <a:gd name="csY0" fmla="*/ 0 h 645435"/>
              <a:gd name="csX1" fmla="*/ 0 w 1419225"/>
              <a:gd name="csY1" fmla="*/ 645436 h 645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19225" h="645435">
                <a:moveTo>
                  <a:pt x="1419225" y="0"/>
                </a:moveTo>
                <a:lnTo>
                  <a:pt x="0" y="645436"/>
                </a:lnTo>
              </a:path>
            </a:pathLst>
          </a:custGeom>
          <a:ln w="23813" cap="rnd">
            <a:solidFill>
              <a:srgbClr val="E8A42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C5F39C2-FB89-D7AA-9A36-BA2B2064C691}"/>
              </a:ext>
            </a:extLst>
          </p:cNvPr>
          <p:cNvSpPr/>
          <p:nvPr/>
        </p:nvSpPr>
        <p:spPr>
          <a:xfrm>
            <a:off x="2924268" y="1681870"/>
            <a:ext cx="1062018" cy="521840"/>
          </a:xfrm>
          <a:custGeom>
            <a:avLst/>
            <a:gdLst>
              <a:gd name="csX0" fmla="*/ 0 w 1419225"/>
              <a:gd name="csY0" fmla="*/ 0 h 645435"/>
              <a:gd name="csX1" fmla="*/ 1419225 w 1419225"/>
              <a:gd name="csY1" fmla="*/ 645436 h 645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19225" h="645435">
                <a:moveTo>
                  <a:pt x="0" y="0"/>
                </a:moveTo>
                <a:lnTo>
                  <a:pt x="1419225" y="645436"/>
                </a:lnTo>
              </a:path>
            </a:pathLst>
          </a:custGeom>
          <a:ln w="17145" cap="rnd">
            <a:solidFill>
              <a:srgbClr val="4A8FA0"/>
            </a:solidFill>
            <a:custDash>
              <a:ds d="375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1BA4FD8E-EE36-4A81-E08A-464B7387402D}"/>
              </a:ext>
            </a:extLst>
          </p:cNvPr>
          <p:cNvSpPr/>
          <p:nvPr/>
        </p:nvSpPr>
        <p:spPr>
          <a:xfrm>
            <a:off x="6004345" y="1681869"/>
            <a:ext cx="952500" cy="645435"/>
          </a:xfrm>
          <a:custGeom>
            <a:avLst/>
            <a:gdLst>
              <a:gd name="csX0" fmla="*/ 952500 w 952500"/>
              <a:gd name="csY0" fmla="*/ 0 h 645435"/>
              <a:gd name="csX1" fmla="*/ 0 w 952500"/>
              <a:gd name="csY1" fmla="*/ 645436 h 645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00" h="645435">
                <a:moveTo>
                  <a:pt x="952500" y="0"/>
                </a:moveTo>
                <a:lnTo>
                  <a:pt x="0" y="645436"/>
                </a:lnTo>
              </a:path>
            </a:pathLst>
          </a:custGeom>
          <a:ln w="17145" cap="rnd">
            <a:solidFill>
              <a:srgbClr val="4A8FA0"/>
            </a:solidFill>
            <a:custDash>
              <a:ds d="375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DAF4D9C-B876-D261-C4F6-2FA1E1C92203}"/>
              </a:ext>
            </a:extLst>
          </p:cNvPr>
          <p:cNvSpPr/>
          <p:nvPr/>
        </p:nvSpPr>
        <p:spPr>
          <a:xfrm>
            <a:off x="6956845" y="1681869"/>
            <a:ext cx="952500" cy="645435"/>
          </a:xfrm>
          <a:custGeom>
            <a:avLst/>
            <a:gdLst>
              <a:gd name="csX0" fmla="*/ 0 w 952500"/>
              <a:gd name="csY0" fmla="*/ 0 h 645435"/>
              <a:gd name="csX1" fmla="*/ 952500 w 952500"/>
              <a:gd name="csY1" fmla="*/ 645436 h 645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00" h="645435">
                <a:moveTo>
                  <a:pt x="0" y="0"/>
                </a:moveTo>
                <a:lnTo>
                  <a:pt x="952500" y="645436"/>
                </a:lnTo>
              </a:path>
            </a:pathLst>
          </a:custGeom>
          <a:ln w="17145" cap="rnd">
            <a:solidFill>
              <a:srgbClr val="4A8FA0"/>
            </a:solidFill>
            <a:custDash>
              <a:ds d="375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9D038E4-C694-617F-60E1-E07F67C2425C}"/>
              </a:ext>
            </a:extLst>
          </p:cNvPr>
          <p:cNvSpPr/>
          <p:nvPr/>
        </p:nvSpPr>
        <p:spPr>
          <a:xfrm>
            <a:off x="1081436" y="2486528"/>
            <a:ext cx="790575" cy="645435"/>
          </a:xfrm>
          <a:custGeom>
            <a:avLst/>
            <a:gdLst>
              <a:gd name="csX0" fmla="*/ 790575 w 790575"/>
              <a:gd name="csY0" fmla="*/ 0 h 645435"/>
              <a:gd name="csX1" fmla="*/ 0 w 790575"/>
              <a:gd name="csY1" fmla="*/ 645436 h 645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90575" h="645435">
                <a:moveTo>
                  <a:pt x="790575" y="0"/>
                </a:moveTo>
                <a:lnTo>
                  <a:pt x="0" y="645436"/>
                </a:lnTo>
              </a:path>
            </a:pathLst>
          </a:custGeom>
          <a:ln w="23813" cap="rnd">
            <a:solidFill>
              <a:srgbClr val="E8A42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B5E2E470-4D3D-E77A-D257-527D36452774}"/>
              </a:ext>
            </a:extLst>
          </p:cNvPr>
          <p:cNvSpPr/>
          <p:nvPr/>
        </p:nvSpPr>
        <p:spPr>
          <a:xfrm>
            <a:off x="1872011" y="2486528"/>
            <a:ext cx="790575" cy="645435"/>
          </a:xfrm>
          <a:custGeom>
            <a:avLst/>
            <a:gdLst>
              <a:gd name="csX0" fmla="*/ 0 w 790575"/>
              <a:gd name="csY0" fmla="*/ 0 h 645435"/>
              <a:gd name="csX1" fmla="*/ 790575 w 790575"/>
              <a:gd name="csY1" fmla="*/ 645436 h 645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90575" h="645435">
                <a:moveTo>
                  <a:pt x="0" y="0"/>
                </a:moveTo>
                <a:lnTo>
                  <a:pt x="790575" y="645436"/>
                </a:lnTo>
              </a:path>
            </a:pathLst>
          </a:custGeom>
          <a:ln w="17145" cap="rnd">
            <a:solidFill>
              <a:srgbClr val="4A8FA0"/>
            </a:solidFill>
            <a:custDash>
              <a:ds d="375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16242B3B-CE1E-3014-6F94-8ED986933FC1}"/>
              </a:ext>
            </a:extLst>
          </p:cNvPr>
          <p:cNvSpPr/>
          <p:nvPr/>
        </p:nvSpPr>
        <p:spPr>
          <a:xfrm>
            <a:off x="1476379" y="3280439"/>
            <a:ext cx="509523" cy="374101"/>
          </a:xfrm>
          <a:custGeom>
            <a:avLst/>
            <a:gdLst>
              <a:gd name="csX0" fmla="*/ 0 w 676275"/>
              <a:gd name="csY0" fmla="*/ 0 h 645435"/>
              <a:gd name="csX1" fmla="*/ 676275 w 676275"/>
              <a:gd name="csY1" fmla="*/ 645436 h 645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6275" h="645435">
                <a:moveTo>
                  <a:pt x="0" y="0"/>
                </a:moveTo>
                <a:lnTo>
                  <a:pt x="676275" y="645436"/>
                </a:lnTo>
              </a:path>
            </a:pathLst>
          </a:custGeom>
          <a:ln w="15240" cap="rnd">
            <a:solidFill>
              <a:srgbClr val="4A8FA0"/>
            </a:solidFill>
            <a:custDash>
              <a:ds d="375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CFE49EE5-2405-60A0-ACD1-4B728B93214C}"/>
              </a:ext>
            </a:extLst>
          </p:cNvPr>
          <p:cNvSpPr/>
          <p:nvPr/>
        </p:nvSpPr>
        <p:spPr>
          <a:xfrm>
            <a:off x="536459" y="3947716"/>
            <a:ext cx="207020" cy="351760"/>
          </a:xfrm>
          <a:custGeom>
            <a:avLst/>
            <a:gdLst>
              <a:gd name="csX0" fmla="*/ 409575 w 409575"/>
              <a:gd name="csY0" fmla="*/ 0 h 577495"/>
              <a:gd name="csX1" fmla="*/ 0 w 409575"/>
              <a:gd name="csY1" fmla="*/ 577495 h 57749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09575" h="577495">
                <a:moveTo>
                  <a:pt x="409575" y="0"/>
                </a:moveTo>
                <a:lnTo>
                  <a:pt x="0" y="577495"/>
                </a:lnTo>
              </a:path>
            </a:pathLst>
          </a:custGeom>
          <a:ln w="23813" cap="rnd">
            <a:solidFill>
              <a:srgbClr val="E8A42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0"/>
          <p:cNvSpPr/>
          <p:nvPr/>
        </p:nvSpPr>
        <p:spPr>
          <a:xfrm rot="10800000">
            <a:off x="100310" y="1750686"/>
            <a:ext cx="8943380" cy="7590"/>
          </a:xfrm>
          <a:prstGeom prst="rect">
            <a:avLst/>
          </a:prstGeom>
          <a:solidFill>
            <a:srgbClr val="1A6B72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100310" y="2786360"/>
            <a:ext cx="8943380" cy="7590"/>
          </a:xfrm>
          <a:prstGeom prst="rect">
            <a:avLst/>
          </a:prstGeom>
          <a:solidFill>
            <a:srgbClr val="1A6B72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00310" y="3513358"/>
            <a:ext cx="8943380" cy="7590"/>
          </a:xfrm>
          <a:prstGeom prst="rect">
            <a:avLst/>
          </a:prstGeom>
          <a:solidFill>
            <a:srgbClr val="1A6B72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00310" y="4200064"/>
            <a:ext cx="8943380" cy="7590"/>
          </a:xfrm>
          <a:prstGeom prst="rect">
            <a:avLst/>
          </a:prstGeom>
          <a:solidFill>
            <a:srgbClr val="1A6B72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627690" y="2551096"/>
            <a:ext cx="587788" cy="313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784"/>
              </a:lnSpc>
              <a:buNone/>
            </a:pPr>
            <a:r>
              <a:rPr lang="en-US" sz="560" i="1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branch</a:t>
            </a:r>
            <a:br>
              <a:rPr dirty="0"/>
            </a:br>
            <a:r>
              <a:rPr lang="en-US" sz="560" i="1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after</a:t>
            </a:r>
            <a:br>
              <a:rPr dirty="0"/>
            </a:br>
            <a:r>
              <a:rPr lang="en-US" sz="560" i="1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path</a:t>
            </a:r>
            <a:endParaRPr lang="en-US" sz="560" dirty="0"/>
          </a:p>
        </p:txBody>
      </p:sp>
      <p:sp>
        <p:nvSpPr>
          <p:cNvPr id="8" name="Text 5"/>
          <p:cNvSpPr/>
          <p:nvPr/>
        </p:nvSpPr>
        <p:spPr>
          <a:xfrm>
            <a:off x="8691711" y="1422350"/>
            <a:ext cx="33970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42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</a:t>
            </a:r>
            <a:endParaRPr lang="en-US" sz="530" dirty="0"/>
          </a:p>
        </p:txBody>
      </p:sp>
      <p:sp>
        <p:nvSpPr>
          <p:cNvPr id="9" name="Text 6"/>
          <p:cNvSpPr/>
          <p:nvPr/>
        </p:nvSpPr>
        <p:spPr>
          <a:xfrm>
            <a:off x="8691711" y="2214860"/>
            <a:ext cx="33970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42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530" dirty="0"/>
          </a:p>
        </p:txBody>
      </p:sp>
      <p:sp>
        <p:nvSpPr>
          <p:cNvPr id="10" name="Text 7"/>
          <p:cNvSpPr/>
          <p:nvPr/>
        </p:nvSpPr>
        <p:spPr>
          <a:xfrm>
            <a:off x="8691711" y="3058120"/>
            <a:ext cx="33970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42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530" dirty="0"/>
          </a:p>
        </p:txBody>
      </p:sp>
      <p:sp>
        <p:nvSpPr>
          <p:cNvPr id="11" name="Text 8"/>
          <p:cNvSpPr/>
          <p:nvPr/>
        </p:nvSpPr>
        <p:spPr>
          <a:xfrm>
            <a:off x="8691711" y="3886051"/>
            <a:ext cx="33970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42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530" dirty="0"/>
          </a:p>
        </p:txBody>
      </p:sp>
      <p:sp>
        <p:nvSpPr>
          <p:cNvPr id="12" name="Text 9"/>
          <p:cNvSpPr/>
          <p:nvPr/>
        </p:nvSpPr>
        <p:spPr>
          <a:xfrm>
            <a:off x="8691711" y="4658320"/>
            <a:ext cx="33970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42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530" dirty="0"/>
          </a:p>
        </p:txBody>
      </p:sp>
      <p:sp>
        <p:nvSpPr>
          <p:cNvPr id="13" name="Text 10"/>
          <p:cNvSpPr/>
          <p:nvPr/>
        </p:nvSpPr>
        <p:spPr>
          <a:xfrm>
            <a:off x="4422064" y="729882"/>
            <a:ext cx="1057870" cy="308579"/>
          </a:xfrm>
          <a:prstGeom prst="roundRect">
            <a:avLst>
              <a:gd name="adj" fmla="val 18520"/>
            </a:avLst>
          </a:prstGeom>
          <a:solidFill>
            <a:srgbClr val="1A6B72"/>
          </a:solidFill>
          <a:ln/>
          <a:effectLst>
            <a:outerShdw blurRad="86360" dist="21590" dir="5400000" algn="bl" rotWithShape="0">
              <a:srgbClr val="1A6B72">
                <a:alpha val="35000"/>
              </a:srgbClr>
            </a:outerShdw>
          </a:effectLst>
        </p:spPr>
        <p:txBody>
          <a:bodyPr wrap="none" lIns="43180" tIns="29210" rIns="43180" bIns="29210" rtlCol="0" anchor="ctr"/>
          <a:lstStyle/>
          <a:p>
            <a:pPr marL="0" indent="0" algn="ctr">
              <a:buNone/>
            </a:pPr>
            <a:r>
              <a:rPr lang="en-US" sz="730" b="1" kern="0" spc="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Profits</a:t>
            </a:r>
            <a:endParaRPr lang="en-US" sz="730" dirty="0"/>
          </a:p>
        </p:txBody>
      </p:sp>
      <p:sp>
        <p:nvSpPr>
          <p:cNvPr id="14" name="Text 11"/>
          <p:cNvSpPr/>
          <p:nvPr/>
        </p:nvSpPr>
        <p:spPr>
          <a:xfrm>
            <a:off x="2306398" y="1373741"/>
            <a:ext cx="1343620" cy="299591"/>
          </a:xfrm>
          <a:prstGeom prst="roundRect">
            <a:avLst>
              <a:gd name="adj" fmla="val 19076"/>
            </a:avLst>
          </a:prstGeom>
          <a:solidFill>
            <a:srgbClr val="E8A427"/>
          </a:solidFill>
          <a:ln/>
          <a:effectLst>
            <a:outerShdw blurRad="86360" dist="21590" dir="5400000" algn="bl" rotWithShape="0">
              <a:srgbClr val="E8A427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567458" y="1406838"/>
            <a:ext cx="821501" cy="107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680" b="1" kern="0" spc="7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Revenue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2872098" y="1528579"/>
            <a:ext cx="212071" cy="99268"/>
          </a:xfrm>
          <a:prstGeom prst="roundRect">
            <a:avLst>
              <a:gd name="adj" fmla="val 144569"/>
            </a:avLst>
          </a:prstGeom>
          <a:solidFill>
            <a:srgbClr val="0D1B2A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530" dirty="0"/>
          </a:p>
        </p:txBody>
      </p:sp>
      <p:sp>
        <p:nvSpPr>
          <p:cNvPr id="17" name="Text 14"/>
          <p:cNvSpPr/>
          <p:nvPr/>
        </p:nvSpPr>
        <p:spPr>
          <a:xfrm>
            <a:off x="6277728" y="1373741"/>
            <a:ext cx="1343620" cy="299591"/>
          </a:xfrm>
          <a:prstGeom prst="roundRect">
            <a:avLst>
              <a:gd name="adj" fmla="val 19076"/>
            </a:avLst>
          </a:prstGeom>
          <a:solidFill>
            <a:srgbClr val="D4ECF0"/>
          </a:solidFill>
          <a:ln w="9525">
            <a:solidFill>
              <a:srgbClr val="4A8FA0"/>
            </a:solidFill>
          </a:ln>
          <a:effectLst>
            <a:outerShdw blurRad="57150" dist="1397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627690" y="1406838"/>
            <a:ext cx="643548" cy="107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680" b="1" kern="0" spc="7" dirty="0">
                <a:solidFill>
                  <a:srgbClr val="1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Costs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6843428" y="1528579"/>
            <a:ext cx="212071" cy="99268"/>
          </a:xfrm>
          <a:prstGeom prst="roundRect">
            <a:avLst>
              <a:gd name="adj" fmla="val 144569"/>
            </a:avLst>
          </a:prstGeom>
          <a:solidFill>
            <a:srgbClr val="1A6B72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530" dirty="0"/>
          </a:p>
        </p:txBody>
      </p:sp>
      <p:sp>
        <p:nvSpPr>
          <p:cNvPr id="20" name="Text 17"/>
          <p:cNvSpPr/>
          <p:nvPr/>
        </p:nvSpPr>
        <p:spPr>
          <a:xfrm>
            <a:off x="1336559" y="2193057"/>
            <a:ext cx="1129010" cy="285750"/>
          </a:xfrm>
          <a:prstGeom prst="roundRect">
            <a:avLst>
              <a:gd name="adj" fmla="val 20000"/>
            </a:avLst>
          </a:prstGeom>
          <a:solidFill>
            <a:srgbClr val="FFF8E8"/>
          </a:solidFill>
          <a:ln w="9525">
            <a:solidFill>
              <a:srgbClr val="E8A427"/>
            </a:solidFill>
          </a:ln>
          <a:effectLst>
            <a:outerShdw blurRad="57150" dist="1397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537135" y="2225563"/>
            <a:ext cx="727859" cy="1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2"/>
              </a:lnSpc>
              <a:buNone/>
            </a:pPr>
            <a:r>
              <a:rPr lang="en-US" sz="650" b="1" kern="0" spc="7" dirty="0">
                <a:solidFill>
                  <a:srgbClr val="7A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Volume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801480" y="2342538"/>
            <a:ext cx="199168" cy="91380"/>
          </a:xfrm>
          <a:prstGeom prst="roundRect">
            <a:avLst>
              <a:gd name="adj" fmla="val 157048"/>
            </a:avLst>
          </a:prstGeom>
          <a:solidFill>
            <a:srgbClr val="0D1B2A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80" dirty="0"/>
          </a:p>
        </p:txBody>
      </p:sp>
      <p:sp>
        <p:nvSpPr>
          <p:cNvPr id="23" name="Text 20"/>
          <p:cNvSpPr/>
          <p:nvPr/>
        </p:nvSpPr>
        <p:spPr>
          <a:xfrm>
            <a:off x="3465099" y="2193057"/>
            <a:ext cx="1129010" cy="285750"/>
          </a:xfrm>
          <a:prstGeom prst="roundRect">
            <a:avLst>
              <a:gd name="adj" fmla="val 20000"/>
            </a:avLst>
          </a:prstGeom>
          <a:solidFill>
            <a:srgbClr val="E6F4F6"/>
          </a:solidFill>
          <a:ln w="9525">
            <a:solidFill>
              <a:srgbClr val="A0CDD5"/>
            </a:solidFill>
          </a:ln>
          <a:effectLst>
            <a:outerShdw blurRad="57150" dist="1397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715607" y="1870480"/>
            <a:ext cx="627995" cy="1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12"/>
              </a:lnSpc>
              <a:buNone/>
            </a:pPr>
            <a:r>
              <a:rPr lang="en-US" sz="650" b="1" kern="0" spc="7" dirty="0">
                <a:solidFill>
                  <a:srgbClr val="1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Price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3930020" y="2336378"/>
            <a:ext cx="199168" cy="91380"/>
          </a:xfrm>
          <a:prstGeom prst="roundRect">
            <a:avLst>
              <a:gd name="adj" fmla="val 157048"/>
            </a:avLst>
          </a:prstGeom>
          <a:solidFill>
            <a:srgbClr val="1A6B72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80" dirty="0"/>
          </a:p>
        </p:txBody>
      </p:sp>
      <p:sp>
        <p:nvSpPr>
          <p:cNvPr id="26" name="Text 23"/>
          <p:cNvSpPr/>
          <p:nvPr/>
        </p:nvSpPr>
        <p:spPr>
          <a:xfrm>
            <a:off x="5636799" y="2193057"/>
            <a:ext cx="1172170" cy="294323"/>
          </a:xfrm>
          <a:prstGeom prst="roundRect">
            <a:avLst>
              <a:gd name="adj" fmla="val 19417"/>
            </a:avLst>
          </a:prstGeom>
          <a:solidFill>
            <a:srgbClr val="E6F4F6"/>
          </a:solidFill>
          <a:ln w="9525">
            <a:solidFill>
              <a:srgbClr val="A0CDD5"/>
            </a:solidFill>
          </a:ln>
          <a:effectLst>
            <a:outerShdw blurRad="57150" dist="13970" dir="5400000" algn="bl" rotWithShape="0">
              <a:srgbClr val="000000">
                <a:alpha val="10000"/>
              </a:srgbClr>
            </a:outerShdw>
          </a:effectLst>
        </p:spPr>
        <p:txBody>
          <a:bodyPr wrap="none" lIns="43180" tIns="29210" rIns="43180" bIns="29210" rtlCol="0" anchor="ctr"/>
          <a:lstStyle/>
          <a:p>
            <a:pPr marL="0" indent="0" algn="ctr">
              <a:buNone/>
            </a:pPr>
            <a:r>
              <a:rPr lang="en-US" sz="650" b="1" kern="0" spc="7" dirty="0">
                <a:solidFill>
                  <a:srgbClr val="1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Overhead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7065549" y="2193057"/>
            <a:ext cx="1213991" cy="294323"/>
          </a:xfrm>
          <a:prstGeom prst="roundRect">
            <a:avLst>
              <a:gd name="adj" fmla="val 19417"/>
            </a:avLst>
          </a:prstGeom>
          <a:solidFill>
            <a:srgbClr val="E6F4F6"/>
          </a:solidFill>
          <a:ln w="9525">
            <a:solidFill>
              <a:srgbClr val="A0CDD5"/>
            </a:solidFill>
          </a:ln>
          <a:effectLst>
            <a:outerShdw blurRad="57150" dist="13970" dir="5400000" algn="bl" rotWithShape="0">
              <a:srgbClr val="000000">
                <a:alpha val="10000"/>
              </a:srgbClr>
            </a:outerShdw>
          </a:effectLst>
        </p:spPr>
        <p:txBody>
          <a:bodyPr wrap="none" lIns="43180" tIns="29210" rIns="43180" bIns="29210" rtlCol="0" anchor="ctr"/>
          <a:lstStyle/>
          <a:p>
            <a:pPr marL="0" indent="0" algn="ctr">
              <a:buNone/>
            </a:pPr>
            <a:r>
              <a:rPr lang="en-US" sz="620" b="1" kern="0" spc="6" dirty="0">
                <a:solidFill>
                  <a:srgbClr val="1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Operating Costs</a:t>
            </a:r>
            <a:endParaRPr lang="en-US" sz="620" dirty="0"/>
          </a:p>
        </p:txBody>
      </p:sp>
      <p:sp>
        <p:nvSpPr>
          <p:cNvPr id="28" name="Text 25"/>
          <p:cNvSpPr/>
          <p:nvPr/>
        </p:nvSpPr>
        <p:spPr>
          <a:xfrm>
            <a:off x="743479" y="3009105"/>
            <a:ext cx="1129010" cy="294323"/>
          </a:xfrm>
          <a:prstGeom prst="roundRect">
            <a:avLst>
              <a:gd name="adj" fmla="val 19417"/>
            </a:avLst>
          </a:prstGeom>
          <a:solidFill>
            <a:srgbClr val="FFF8E8"/>
          </a:solidFill>
          <a:ln w="9525">
            <a:solidFill>
              <a:srgbClr val="E8A427"/>
            </a:solidFill>
          </a:ln>
          <a:effectLst>
            <a:outerShdw blurRad="57150" dist="13970" dir="5400000" algn="bl" rotWithShape="0">
              <a:srgbClr val="000000">
                <a:alpha val="10000"/>
              </a:srgbClr>
            </a:outerShdw>
          </a:effectLst>
        </p:spPr>
        <p:txBody>
          <a:bodyPr wrap="none" lIns="43180" tIns="29210" rIns="43180" bIns="29210" rtlCol="0" anchor="ctr"/>
          <a:lstStyle/>
          <a:p>
            <a:pPr marL="0" indent="0" algn="ctr">
              <a:buNone/>
            </a:pPr>
            <a:r>
              <a:rPr lang="en-US" sz="620" b="1" kern="0" spc="6" dirty="0">
                <a:solidFill>
                  <a:srgbClr val="7A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Products</a:t>
            </a:r>
            <a:endParaRPr lang="en-US" sz="620" dirty="0"/>
          </a:p>
        </p:txBody>
      </p:sp>
      <p:sp>
        <p:nvSpPr>
          <p:cNvPr id="29" name="Text 26"/>
          <p:cNvSpPr/>
          <p:nvPr/>
        </p:nvSpPr>
        <p:spPr>
          <a:xfrm>
            <a:off x="1929639" y="3009105"/>
            <a:ext cx="1129010" cy="294323"/>
          </a:xfrm>
          <a:prstGeom prst="roundRect">
            <a:avLst>
              <a:gd name="adj" fmla="val 19417"/>
            </a:avLst>
          </a:prstGeom>
          <a:solidFill>
            <a:srgbClr val="E6F4F6"/>
          </a:solidFill>
          <a:ln w="9525">
            <a:solidFill>
              <a:srgbClr val="A0CDD5"/>
            </a:solidFill>
          </a:ln>
          <a:effectLst>
            <a:outerShdw blurRad="57150" dist="13970" dir="5400000" algn="bl" rotWithShape="0">
              <a:srgbClr val="000000">
                <a:alpha val="10000"/>
              </a:srgbClr>
            </a:outerShdw>
          </a:effectLst>
        </p:spPr>
        <p:txBody>
          <a:bodyPr wrap="none" lIns="43180" tIns="29210" rIns="43180" bIns="29210" rtlCol="0" anchor="ctr"/>
          <a:lstStyle/>
          <a:p>
            <a:pPr marL="0" indent="0" algn="ctr">
              <a:buNone/>
            </a:pPr>
            <a:r>
              <a:rPr lang="en-US" sz="620" b="1" kern="0" spc="6" dirty="0">
                <a:solidFill>
                  <a:srgbClr val="1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</a:t>
            </a:r>
            <a:endParaRPr lang="en-US" sz="620" dirty="0"/>
          </a:p>
        </p:txBody>
      </p:sp>
      <p:sp>
        <p:nvSpPr>
          <p:cNvPr id="30" name="Text 27"/>
          <p:cNvSpPr/>
          <p:nvPr/>
        </p:nvSpPr>
        <p:spPr>
          <a:xfrm>
            <a:off x="330870" y="3650440"/>
            <a:ext cx="847884" cy="294323"/>
          </a:xfrm>
          <a:prstGeom prst="roundRect">
            <a:avLst>
              <a:gd name="adj" fmla="val 19417"/>
            </a:avLst>
          </a:prstGeom>
          <a:solidFill>
            <a:srgbClr val="E6F4F6"/>
          </a:solidFill>
          <a:ln w="9525">
            <a:solidFill>
              <a:srgbClr val="A0CDD5"/>
            </a:solidFill>
          </a:ln>
          <a:effectLst>
            <a:outerShdw blurRad="57150" dist="13970" dir="5400000" algn="bl" rotWithShape="0">
              <a:srgbClr val="000000">
                <a:alpha val="10000"/>
              </a:srgbClr>
            </a:outerShdw>
          </a:effectLst>
        </p:spPr>
        <p:txBody>
          <a:bodyPr wrap="none" lIns="43180" tIns="29210" rIns="43180" bIns="29210" rtlCol="0" anchor="ctr"/>
          <a:lstStyle/>
          <a:p>
            <a:pPr marL="0" indent="0" algn="ctr">
              <a:buNone/>
            </a:pPr>
            <a:r>
              <a:rPr lang="en-US" sz="620" b="1" kern="0" spc="6" dirty="0">
                <a:solidFill>
                  <a:srgbClr val="1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Markets</a:t>
            </a:r>
            <a:endParaRPr lang="en-US" sz="620" dirty="0"/>
          </a:p>
        </p:txBody>
      </p:sp>
      <p:sp>
        <p:nvSpPr>
          <p:cNvPr id="31" name="Text 28"/>
          <p:cNvSpPr/>
          <p:nvPr/>
        </p:nvSpPr>
        <p:spPr>
          <a:xfrm>
            <a:off x="1392370" y="3644424"/>
            <a:ext cx="847884" cy="294323"/>
          </a:xfrm>
          <a:prstGeom prst="roundRect">
            <a:avLst>
              <a:gd name="adj" fmla="val 19417"/>
            </a:avLst>
          </a:prstGeom>
          <a:solidFill>
            <a:srgbClr val="E6F4F6"/>
          </a:solidFill>
          <a:ln w="9525">
            <a:solidFill>
              <a:srgbClr val="A0CDD5"/>
            </a:solidFill>
          </a:ln>
          <a:effectLst>
            <a:outerShdw blurRad="57150" dist="13970" dir="5400000" algn="bl" rotWithShape="0">
              <a:srgbClr val="000000">
                <a:alpha val="10000"/>
              </a:srgbClr>
            </a:outerShdw>
          </a:effectLst>
        </p:spPr>
        <p:txBody>
          <a:bodyPr wrap="none" lIns="43180" tIns="29210" rIns="43180" bIns="29210" rtlCol="0" anchor="ctr"/>
          <a:lstStyle/>
          <a:p>
            <a:pPr marL="0" indent="0" algn="ctr">
              <a:buNone/>
            </a:pPr>
            <a:r>
              <a:rPr lang="en-US" sz="620" b="1" kern="0" spc="6" dirty="0">
                <a:solidFill>
                  <a:srgbClr val="1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Markets</a:t>
            </a:r>
            <a:endParaRPr lang="en-US" sz="620" dirty="0"/>
          </a:p>
        </p:txBody>
      </p:sp>
      <p:sp>
        <p:nvSpPr>
          <p:cNvPr id="32" name="Text 29"/>
          <p:cNvSpPr/>
          <p:nvPr/>
        </p:nvSpPr>
        <p:spPr>
          <a:xfrm>
            <a:off x="333420" y="4327651"/>
            <a:ext cx="971550" cy="266513"/>
          </a:xfrm>
          <a:prstGeom prst="roundRect">
            <a:avLst>
              <a:gd name="adj" fmla="val 21525"/>
            </a:avLst>
          </a:prstGeom>
          <a:solidFill>
            <a:srgbClr val="E8A427"/>
          </a:solidFill>
          <a:ln/>
          <a:effectLst>
            <a:outerShdw blurRad="57150" dist="13970" dir="5400000" algn="bl" rotWithShape="0">
              <a:srgbClr val="E8A427">
                <a:alpha val="45000"/>
              </a:srgbClr>
            </a:outerShdw>
          </a:effectLst>
        </p:spPr>
        <p:txBody>
          <a:bodyPr wrap="none" lIns="43180" tIns="29210" rIns="43180" bIns="29210" rtlCol="0" anchor="ctr"/>
          <a:lstStyle/>
          <a:p>
            <a:pPr marL="0" indent="0" algn="ctr">
              <a:buNone/>
            </a:pPr>
            <a:r>
              <a:rPr lang="en-US" sz="590" b="1" kern="0" spc="6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Stores</a:t>
            </a:r>
            <a:endParaRPr lang="en-US" sz="590" dirty="0"/>
          </a:p>
        </p:txBody>
      </p:sp>
      <p:sp>
        <p:nvSpPr>
          <p:cNvPr id="33" name="Text 30"/>
          <p:cNvSpPr/>
          <p:nvPr/>
        </p:nvSpPr>
        <p:spPr>
          <a:xfrm>
            <a:off x="1392370" y="4322646"/>
            <a:ext cx="971550" cy="265503"/>
          </a:xfrm>
          <a:prstGeom prst="roundRect">
            <a:avLst>
              <a:gd name="adj" fmla="val 21525"/>
            </a:avLst>
          </a:prstGeom>
          <a:solidFill>
            <a:srgbClr val="E6F4F6"/>
          </a:solidFill>
          <a:ln w="9525">
            <a:solidFill>
              <a:srgbClr val="A0CDD5"/>
            </a:solidFill>
          </a:ln>
          <a:effectLst>
            <a:outerShdw blurRad="57150" dist="13970" dir="5400000" algn="bl" rotWithShape="0">
              <a:srgbClr val="000000">
                <a:alpha val="10000"/>
              </a:srgbClr>
            </a:outerShdw>
          </a:effectLst>
        </p:spPr>
        <p:txBody>
          <a:bodyPr wrap="none" lIns="43180" tIns="29210" rIns="43180" bIns="29210" rtlCol="0" anchor="ctr"/>
          <a:lstStyle/>
          <a:p>
            <a:pPr marL="0" indent="0" algn="ctr">
              <a:buNone/>
            </a:pPr>
            <a:r>
              <a:rPr lang="en-US" sz="590" b="1" kern="0" spc="6" dirty="0">
                <a:solidFill>
                  <a:srgbClr val="1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Stores</a:t>
            </a:r>
            <a:endParaRPr lang="en-US" sz="590" dirty="0"/>
          </a:p>
        </p:txBody>
      </p:sp>
      <p:sp>
        <p:nvSpPr>
          <p:cNvPr id="34" name="Text 31"/>
          <p:cNvSpPr/>
          <p:nvPr/>
        </p:nvSpPr>
        <p:spPr>
          <a:xfrm>
            <a:off x="0" y="0"/>
            <a:ext cx="9144000" cy="55751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342900" y="63252"/>
            <a:ext cx="3264386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0"/>
              </a:lnSpc>
              <a:buNone/>
            </a:pPr>
            <a:r>
              <a:rPr lang="en-US" sz="1460" kern="0" spc="29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Goal to Action in </a:t>
            </a:r>
            <a:r>
              <a:rPr lang="en-US" sz="1460" b="1" kern="0" spc="29" dirty="0">
                <a:solidFill>
                  <a:srgbClr val="E8A4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Levels</a:t>
            </a:r>
            <a:endParaRPr lang="en-US" sz="1460" dirty="0"/>
          </a:p>
        </p:txBody>
      </p:sp>
      <p:sp>
        <p:nvSpPr>
          <p:cNvPr id="36" name="Text 33"/>
          <p:cNvSpPr/>
          <p:nvPr/>
        </p:nvSpPr>
        <p:spPr>
          <a:xfrm>
            <a:off x="342900" y="355253"/>
            <a:ext cx="335591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How to Increase Company Profit</a:t>
            </a:r>
            <a:endParaRPr lang="en-US" sz="730" dirty="0"/>
          </a:p>
        </p:txBody>
      </p:sp>
      <p:sp>
        <p:nvSpPr>
          <p:cNvPr id="37" name="Text 34"/>
          <p:cNvSpPr/>
          <p:nvPr/>
        </p:nvSpPr>
        <p:spPr>
          <a:xfrm>
            <a:off x="6280696" y="235446"/>
            <a:ext cx="86320" cy="86320"/>
          </a:xfrm>
          <a:prstGeom prst="roundRect">
            <a:avLst>
              <a:gd name="adj" fmla="val 25012"/>
            </a:avLst>
          </a:pr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7494389" y="235446"/>
            <a:ext cx="86320" cy="86320"/>
          </a:xfrm>
          <a:prstGeom prst="roundRect">
            <a:avLst>
              <a:gd name="adj" fmla="val 25012"/>
            </a:avLst>
          </a:prstGeom>
          <a:solidFill>
            <a:srgbClr val="D4ECF0"/>
          </a:solidFill>
          <a:ln w="9525">
            <a:solidFill>
              <a:srgbClr val="4A8FA0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8303568" y="235446"/>
            <a:ext cx="86320" cy="86320"/>
          </a:xfrm>
          <a:prstGeom prst="roundRect">
            <a:avLst>
              <a:gd name="adj" fmla="val 25012"/>
            </a:avLst>
          </a:prstGeom>
          <a:solidFill>
            <a:srgbClr val="1A6B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157459" y="5266903"/>
            <a:ext cx="3113559" cy="134516"/>
          </a:xfrm>
          <a:prstGeom prst="rect">
            <a:avLst/>
          </a:prstGeom>
          <a:solidFill>
            <a:srgbClr val="FFF8E8"/>
          </a:solidFill>
          <a:ln/>
        </p:spPr>
        <p:txBody>
          <a:bodyPr wrap="none" lIns="71120" tIns="29210" rIns="71120" bIns="29210" rtlCol="0" anchor="t"/>
          <a:lstStyle/>
          <a:p>
            <a:r>
              <a:rPr lang="en-US" sz="560" dirty="0">
                <a:solidFill>
                  <a:srgbClr val="7A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Active path: Profits → Revenue → Volume → Existing Products → Existing Market → Existing Stores</a:t>
            </a:r>
            <a:endParaRPr lang="en-US" sz="560" dirty="0"/>
          </a:p>
        </p:txBody>
      </p:sp>
      <p:sp>
        <p:nvSpPr>
          <p:cNvPr id="41" name="Text 38"/>
          <p:cNvSpPr/>
          <p:nvPr/>
        </p:nvSpPr>
        <p:spPr>
          <a:xfrm>
            <a:off x="0" y="4928890"/>
            <a:ext cx="9144000" cy="214610"/>
          </a:xfrm>
          <a:prstGeom prst="rect">
            <a:avLst/>
          </a:prstGeom>
          <a:solidFill>
            <a:srgbClr val="0D1B2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42900" y="4982766"/>
            <a:ext cx="236054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4" dirty="0">
                <a:solidFill>
                  <a:srgbClr val="4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PATH — RECURSIVE CLARITY FRAMEWORK</a:t>
            </a:r>
            <a:endParaRPr lang="en-US" sz="560" dirty="0"/>
          </a:p>
        </p:txBody>
      </p:sp>
      <p:sp>
        <p:nvSpPr>
          <p:cNvPr id="43" name="Text 40"/>
          <p:cNvSpPr/>
          <p:nvPr/>
        </p:nvSpPr>
        <p:spPr>
          <a:xfrm>
            <a:off x="8572500" y="5029200"/>
            <a:ext cx="228600" cy="13841"/>
          </a:xfrm>
          <a:prstGeom prst="roundRect">
            <a:avLst>
              <a:gd name="adj" fmla="val 55054"/>
            </a:avLst>
          </a:pr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B01D1269-D449-B646-83C5-971152D6ABFA}"/>
              </a:ext>
            </a:extLst>
          </p:cNvPr>
          <p:cNvSpPr/>
          <p:nvPr/>
        </p:nvSpPr>
        <p:spPr>
          <a:xfrm>
            <a:off x="772575" y="3960907"/>
            <a:ext cx="1099914" cy="374101"/>
          </a:xfrm>
          <a:custGeom>
            <a:avLst/>
            <a:gdLst>
              <a:gd name="csX0" fmla="*/ 0 w 409575"/>
              <a:gd name="csY0" fmla="*/ 0 h 577495"/>
              <a:gd name="csX1" fmla="*/ 409575 w 409575"/>
              <a:gd name="csY1" fmla="*/ 577495 h 57749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09575" h="577495">
                <a:moveTo>
                  <a:pt x="0" y="0"/>
                </a:moveTo>
                <a:lnTo>
                  <a:pt x="409575" y="577495"/>
                </a:lnTo>
              </a:path>
            </a:pathLst>
          </a:custGeom>
          <a:ln w="17145" cap="rnd">
            <a:solidFill>
              <a:srgbClr val="4A8FA0"/>
            </a:solidFill>
            <a:custDash>
              <a:ds d="375000" sp="22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4ECDB1B-7D24-88F7-0907-BFF451256432}"/>
              </a:ext>
            </a:extLst>
          </p:cNvPr>
          <p:cNvSpPr/>
          <p:nvPr/>
        </p:nvSpPr>
        <p:spPr>
          <a:xfrm>
            <a:off x="721899" y="3303429"/>
            <a:ext cx="472308" cy="348486"/>
          </a:xfrm>
          <a:custGeom>
            <a:avLst/>
            <a:gdLst>
              <a:gd name="csX0" fmla="*/ 790575 w 790575"/>
              <a:gd name="csY0" fmla="*/ 0 h 645435"/>
              <a:gd name="csX1" fmla="*/ 0 w 790575"/>
              <a:gd name="csY1" fmla="*/ 645436 h 645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90575" h="645435">
                <a:moveTo>
                  <a:pt x="790575" y="0"/>
                </a:moveTo>
                <a:lnTo>
                  <a:pt x="0" y="645436"/>
                </a:lnTo>
              </a:path>
            </a:pathLst>
          </a:custGeom>
          <a:ln w="23813" cap="rnd">
            <a:solidFill>
              <a:srgbClr val="E8A427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8D71AFB3-B96F-5529-18AF-6426B1AEB78D}"/>
              </a:ext>
            </a:extLst>
          </p:cNvPr>
          <p:cNvSpPr/>
          <p:nvPr/>
        </p:nvSpPr>
        <p:spPr>
          <a:xfrm>
            <a:off x="1235207" y="3193370"/>
            <a:ext cx="199168" cy="91380"/>
          </a:xfrm>
          <a:prstGeom prst="roundRect">
            <a:avLst>
              <a:gd name="adj" fmla="val 157048"/>
            </a:avLst>
          </a:prstGeom>
          <a:solidFill>
            <a:srgbClr val="0D1B2A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80" dirty="0"/>
          </a:p>
        </p:txBody>
      </p:sp>
      <p:sp>
        <p:nvSpPr>
          <p:cNvPr id="64" name="Text 19">
            <a:extLst>
              <a:ext uri="{FF2B5EF4-FFF2-40B4-BE49-F238E27FC236}">
                <a16:creationId xmlns:a16="http://schemas.microsoft.com/office/drawing/2014/main" id="{C5069F7B-8F89-5F8C-313A-C4CD9DA9E296}"/>
              </a:ext>
            </a:extLst>
          </p:cNvPr>
          <p:cNvSpPr/>
          <p:nvPr/>
        </p:nvSpPr>
        <p:spPr>
          <a:xfrm>
            <a:off x="2354092" y="3192490"/>
            <a:ext cx="199168" cy="91380"/>
          </a:xfrm>
          <a:prstGeom prst="roundRect">
            <a:avLst>
              <a:gd name="adj" fmla="val 157048"/>
            </a:avLst>
          </a:prstGeom>
          <a:solidFill>
            <a:srgbClr val="0D1B2A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48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9420BDB3-847C-F0A2-7D14-4AD420D3E0DD}"/>
              </a:ext>
            </a:extLst>
          </p:cNvPr>
          <p:cNvSpPr/>
          <p:nvPr/>
        </p:nvSpPr>
        <p:spPr>
          <a:xfrm>
            <a:off x="703357" y="3821580"/>
            <a:ext cx="199168" cy="91380"/>
          </a:xfrm>
          <a:prstGeom prst="roundRect">
            <a:avLst>
              <a:gd name="adj" fmla="val 157048"/>
            </a:avLst>
          </a:prstGeom>
          <a:solidFill>
            <a:srgbClr val="0D1B2A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480" dirty="0"/>
          </a:p>
        </p:txBody>
      </p:sp>
      <p:sp>
        <p:nvSpPr>
          <p:cNvPr id="68" name="Text 19">
            <a:extLst>
              <a:ext uri="{FF2B5EF4-FFF2-40B4-BE49-F238E27FC236}">
                <a16:creationId xmlns:a16="http://schemas.microsoft.com/office/drawing/2014/main" id="{E9824D8D-C357-5A93-83FE-8CD53B0CC531}"/>
              </a:ext>
            </a:extLst>
          </p:cNvPr>
          <p:cNvSpPr/>
          <p:nvPr/>
        </p:nvSpPr>
        <p:spPr>
          <a:xfrm>
            <a:off x="1708914" y="3821580"/>
            <a:ext cx="199168" cy="91380"/>
          </a:xfrm>
          <a:prstGeom prst="roundRect">
            <a:avLst>
              <a:gd name="adj" fmla="val 157048"/>
            </a:avLst>
          </a:prstGeom>
          <a:solidFill>
            <a:srgbClr val="0D1B2A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480" dirty="0"/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F590AE9D-5E72-0B1C-F714-5A6140B65AEA}"/>
              </a:ext>
            </a:extLst>
          </p:cNvPr>
          <p:cNvSpPr/>
          <p:nvPr/>
        </p:nvSpPr>
        <p:spPr>
          <a:xfrm>
            <a:off x="761391" y="4489322"/>
            <a:ext cx="199168" cy="91380"/>
          </a:xfrm>
          <a:prstGeom prst="roundRect">
            <a:avLst>
              <a:gd name="adj" fmla="val 157048"/>
            </a:avLst>
          </a:prstGeom>
          <a:solidFill>
            <a:srgbClr val="0D1B2A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80" dirty="0"/>
          </a:p>
        </p:txBody>
      </p:sp>
      <p:sp>
        <p:nvSpPr>
          <p:cNvPr id="74" name="Text 19">
            <a:extLst>
              <a:ext uri="{FF2B5EF4-FFF2-40B4-BE49-F238E27FC236}">
                <a16:creationId xmlns:a16="http://schemas.microsoft.com/office/drawing/2014/main" id="{0B8C4F29-0D6C-02AF-053B-45EC9CFD26F0}"/>
              </a:ext>
            </a:extLst>
          </p:cNvPr>
          <p:cNvSpPr/>
          <p:nvPr/>
        </p:nvSpPr>
        <p:spPr>
          <a:xfrm>
            <a:off x="1701896" y="4489322"/>
            <a:ext cx="199168" cy="91380"/>
          </a:xfrm>
          <a:prstGeom prst="roundRect">
            <a:avLst>
              <a:gd name="adj" fmla="val 157048"/>
            </a:avLst>
          </a:prstGeom>
          <a:solidFill>
            <a:srgbClr val="0D1B2A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2A7FA5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2A7FA5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2A7FA5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92000" t="50000" r="8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14920"/>
            <a:ext cx="8805672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33"/>
              </a:lnSpc>
              <a:buNone/>
            </a:pPr>
            <a:r>
              <a:rPr lang="en-US" sz="2030" kern="0" spc="20" dirty="0">
                <a:solidFill>
                  <a:srgbClr val="E8A4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a Team Reaches Consensus</a:t>
            </a:r>
            <a:endParaRPr lang="en-US" sz="2030" dirty="0"/>
          </a:p>
        </p:txBody>
      </p:sp>
      <p:sp>
        <p:nvSpPr>
          <p:cNvPr id="6" name="Text 4"/>
          <p:cNvSpPr/>
          <p:nvPr/>
        </p:nvSpPr>
        <p:spPr>
          <a:xfrm>
            <a:off x="457200" y="641598"/>
            <a:ext cx="9052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i="1" kern="0" spc="18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Path is a facilitation tool — not just a clarity tool.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84039"/>
            <a:ext cx="400050" cy="13841"/>
          </a:xfrm>
          <a:prstGeom prst="roundRect">
            <a:avLst>
              <a:gd name="adj" fmla="val 100932"/>
            </a:avLst>
          </a:pr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65079" y="943570"/>
            <a:ext cx="13841" cy="39713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8000">
                <a:srgbClr val="2A7FA5">
                  <a:alpha val="55000"/>
                </a:srgbClr>
              </a:gs>
              <a:gs pos="92000">
                <a:srgbClr val="2A7FA5">
                  <a:alpha val="5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97769" y="1054150"/>
            <a:ext cx="3088481" cy="493663"/>
          </a:xfrm>
          <a:prstGeom prst="roundRect">
            <a:avLst>
              <a:gd name="adj" fmla="val 11577"/>
            </a:avLst>
          </a:prstGeom>
          <a:solidFill>
            <a:srgbClr val="1A3A5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7769" y="1054150"/>
            <a:ext cx="19050" cy="493663"/>
          </a:xfrm>
          <a:custGeom>
            <a:avLst/>
            <a:gdLst/>
            <a:ahLst/>
            <a:cxnLst/>
            <a:rect l="l" t="t" r="r" b="b"/>
            <a:pathLst>
              <a:path w="19050" h="493663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479110"/>
                </a:lnTo>
                <a:lnTo>
                  <a:pt x="16669" y="476854"/>
                </a:lnTo>
                <a:lnTo>
                  <a:pt x="14288" y="474314"/>
                </a:lnTo>
                <a:lnTo>
                  <a:pt x="11906" y="471429"/>
                </a:lnTo>
                <a:lnTo>
                  <a:pt x="9525" y="468104"/>
                </a:lnTo>
                <a:lnTo>
                  <a:pt x="7144" y="464181"/>
                </a:lnTo>
                <a:lnTo>
                  <a:pt x="4763" y="459353"/>
                </a:lnTo>
                <a:lnTo>
                  <a:pt x="2381" y="452838"/>
                </a:lnTo>
                <a:lnTo>
                  <a:pt x="0" y="436513"/>
                </a:lnTo>
                <a:close/>
              </a:path>
            </a:pathLst>
          </a:custGeom>
          <a:solidFill>
            <a:srgbClr val="E8A42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76725" y="1297112"/>
            <a:ext cx="271760" cy="7590"/>
          </a:xfrm>
          <a:prstGeom prst="rect">
            <a:avLst/>
          </a:prstGeom>
          <a:gradFill rotWithShape="1">
            <a:gsLst>
              <a:gs pos="0">
                <a:srgbClr val="E8A427">
                  <a:alpha val="50000"/>
                </a:srgbClr>
              </a:gs>
              <a:gs pos="100000">
                <a:srgbClr val="E8A427">
                  <a:alpha val="1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35650" y="1149995"/>
            <a:ext cx="1212934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08"/>
              </a:lnSpc>
              <a:buNone/>
            </a:pPr>
            <a:r>
              <a:rPr lang="en-US" sz="840" b="1" kern="0" spc="34" dirty="0">
                <a:solidFill>
                  <a:srgbClr val="E8A4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DEFINE THE GOAL</a:t>
            </a:r>
            <a:endParaRPr lang="en-US" sz="84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4871" y="1147697"/>
            <a:ext cx="132588" cy="1325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64597" y="1307157"/>
            <a:ext cx="3083987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40"/>
              </a:lnSpc>
              <a:buNone/>
            </a:pPr>
            <a:r>
              <a:rPr lang="en-US" sz="760" dirty="0">
                <a:solidFill>
                  <a:srgbClr val="F0F4F8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clear intended result. What does success look like?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4572000" y="1795909"/>
            <a:ext cx="3143250" cy="638473"/>
          </a:xfrm>
          <a:prstGeom prst="roundRect">
            <a:avLst>
              <a:gd name="adj" fmla="val 8951"/>
            </a:avLst>
          </a:prstGeom>
          <a:solidFill>
            <a:srgbClr val="1A3A5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696200" y="1795909"/>
            <a:ext cx="19050" cy="638473"/>
          </a:xfrm>
          <a:custGeom>
            <a:avLst/>
            <a:gdLst/>
            <a:ahLst/>
            <a:cxnLst/>
            <a:rect l="l" t="t" r="r" b="b"/>
            <a:pathLst>
              <a:path w="19050" h="638473">
                <a:moveTo>
                  <a:pt x="0" y="14553"/>
                </a:moveTo>
                <a:lnTo>
                  <a:pt x="2381" y="16809"/>
                </a:lnTo>
                <a:lnTo>
                  <a:pt x="4763" y="19349"/>
                </a:lnTo>
                <a:lnTo>
                  <a:pt x="7144" y="22234"/>
                </a:lnTo>
                <a:lnTo>
                  <a:pt x="9525" y="25559"/>
                </a:lnTo>
                <a:lnTo>
                  <a:pt x="11906" y="29482"/>
                </a:lnTo>
                <a:lnTo>
                  <a:pt x="14288" y="34310"/>
                </a:lnTo>
                <a:lnTo>
                  <a:pt x="16669" y="40825"/>
                </a:lnTo>
                <a:lnTo>
                  <a:pt x="19050" y="57150"/>
                </a:lnTo>
                <a:lnTo>
                  <a:pt x="19050" y="581323"/>
                </a:lnTo>
                <a:lnTo>
                  <a:pt x="16669" y="597648"/>
                </a:lnTo>
                <a:lnTo>
                  <a:pt x="14288" y="604163"/>
                </a:lnTo>
                <a:lnTo>
                  <a:pt x="11906" y="608990"/>
                </a:lnTo>
                <a:lnTo>
                  <a:pt x="9525" y="612914"/>
                </a:lnTo>
                <a:lnTo>
                  <a:pt x="7144" y="616239"/>
                </a:lnTo>
                <a:lnTo>
                  <a:pt x="4763" y="619124"/>
                </a:lnTo>
                <a:lnTo>
                  <a:pt x="2381" y="621664"/>
                </a:lnTo>
                <a:lnTo>
                  <a:pt x="0" y="623920"/>
                </a:lnTo>
                <a:close/>
              </a:path>
            </a:pathLst>
          </a:custGeom>
          <a:solidFill>
            <a:srgbClr val="4FB8D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309765" y="2111350"/>
            <a:ext cx="271760" cy="7590"/>
          </a:xfrm>
          <a:prstGeom prst="rect">
            <a:avLst/>
          </a:prstGeom>
          <a:gradFill rotWithShape="1">
            <a:gsLst>
              <a:gs pos="0">
                <a:srgbClr val="4FB8D4">
                  <a:alpha val="50000"/>
                </a:srgbClr>
              </a:gs>
              <a:gs pos="100000">
                <a:srgbClr val="4FB8D4">
                  <a:alpha val="1000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79169" y="1891754"/>
            <a:ext cx="1827996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kern="0" spc="34" dirty="0">
                <a:solidFill>
                  <a:srgbClr val="4FB8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SPLIT INTO TWO BRANCHES</a:t>
            </a:r>
            <a:endParaRPr lang="en-US" sz="84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8123" y="1889456"/>
            <a:ext cx="132588" cy="1325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709666" y="2048917"/>
            <a:ext cx="2915561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F0F4F8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two main contributor groups. Group three-plus factors into two logical buckets.</a:t>
            </a:r>
            <a:endParaRPr lang="en-US" sz="760" dirty="0"/>
          </a:p>
        </p:txBody>
      </p:sp>
      <p:sp>
        <p:nvSpPr>
          <p:cNvPr id="21" name="Text 17"/>
          <p:cNvSpPr/>
          <p:nvPr/>
        </p:nvSpPr>
        <p:spPr>
          <a:xfrm>
            <a:off x="1143000" y="2609999"/>
            <a:ext cx="3143250" cy="638473"/>
          </a:xfrm>
          <a:prstGeom prst="roundRect">
            <a:avLst>
              <a:gd name="adj" fmla="val 8951"/>
            </a:avLst>
          </a:prstGeom>
          <a:solidFill>
            <a:srgbClr val="1A3A5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1143000" y="2609999"/>
            <a:ext cx="19050" cy="638473"/>
          </a:xfrm>
          <a:custGeom>
            <a:avLst/>
            <a:gdLst/>
            <a:ahLst/>
            <a:cxnLst/>
            <a:rect l="l" t="t" r="r" b="b"/>
            <a:pathLst>
              <a:path w="19050" h="638473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623920"/>
                </a:lnTo>
                <a:lnTo>
                  <a:pt x="16669" y="621664"/>
                </a:lnTo>
                <a:lnTo>
                  <a:pt x="14288" y="619124"/>
                </a:lnTo>
                <a:lnTo>
                  <a:pt x="11906" y="616239"/>
                </a:lnTo>
                <a:lnTo>
                  <a:pt x="9525" y="612914"/>
                </a:lnTo>
                <a:lnTo>
                  <a:pt x="7144" y="608990"/>
                </a:lnTo>
                <a:lnTo>
                  <a:pt x="4763" y="604163"/>
                </a:lnTo>
                <a:lnTo>
                  <a:pt x="2381" y="597648"/>
                </a:lnTo>
                <a:lnTo>
                  <a:pt x="0" y="581323"/>
                </a:lnTo>
                <a:close/>
              </a:path>
            </a:pathLst>
          </a:custGeom>
          <a:solidFill>
            <a:srgbClr val="E8A42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276725" y="2925440"/>
            <a:ext cx="271760" cy="7590"/>
          </a:xfrm>
          <a:prstGeom prst="rect">
            <a:avLst/>
          </a:prstGeom>
          <a:gradFill rotWithShape="1">
            <a:gsLst>
              <a:gs pos="0">
                <a:srgbClr val="E8A427">
                  <a:alpha val="50000"/>
                </a:srgbClr>
              </a:gs>
              <a:gs pos="100000">
                <a:srgbClr val="E8A427">
                  <a:alpha val="1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2255431" y="2705844"/>
            <a:ext cx="1893153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08"/>
              </a:lnSpc>
              <a:buNone/>
            </a:pPr>
            <a:r>
              <a:rPr lang="en-US" sz="840" b="1" kern="0" spc="34" dirty="0">
                <a:solidFill>
                  <a:srgbClr val="E8A4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ASSIGN WEIGHTS TOGETHER</a:t>
            </a:r>
            <a:endParaRPr lang="en-US" sz="84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26490" y="2703546"/>
            <a:ext cx="132588" cy="1325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233023" y="2863007"/>
            <a:ext cx="2915561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40"/>
              </a:lnSpc>
              <a:buNone/>
            </a:pPr>
            <a:r>
              <a:rPr lang="en-US" sz="760" dirty="0">
                <a:solidFill>
                  <a:srgbClr val="F0F4F8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 and stakeholders collaboratively assign % weights. This step builds shared ownership.</a:t>
            </a:r>
            <a:endParaRPr lang="en-US" sz="760" dirty="0"/>
          </a:p>
        </p:txBody>
      </p:sp>
      <p:sp>
        <p:nvSpPr>
          <p:cNvPr id="27" name="Text 22"/>
          <p:cNvSpPr/>
          <p:nvPr/>
        </p:nvSpPr>
        <p:spPr>
          <a:xfrm>
            <a:off x="4572000" y="3424089"/>
            <a:ext cx="3143250" cy="638473"/>
          </a:xfrm>
          <a:prstGeom prst="roundRect">
            <a:avLst>
              <a:gd name="adj" fmla="val 8951"/>
            </a:avLst>
          </a:prstGeom>
          <a:solidFill>
            <a:srgbClr val="1A3A5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7696200" y="3424089"/>
            <a:ext cx="19050" cy="638473"/>
          </a:xfrm>
          <a:custGeom>
            <a:avLst/>
            <a:gdLst/>
            <a:ahLst/>
            <a:cxnLst/>
            <a:rect l="l" t="t" r="r" b="b"/>
            <a:pathLst>
              <a:path w="19050" h="638473">
                <a:moveTo>
                  <a:pt x="0" y="14553"/>
                </a:moveTo>
                <a:lnTo>
                  <a:pt x="2381" y="16809"/>
                </a:lnTo>
                <a:lnTo>
                  <a:pt x="4763" y="19349"/>
                </a:lnTo>
                <a:lnTo>
                  <a:pt x="7144" y="22234"/>
                </a:lnTo>
                <a:lnTo>
                  <a:pt x="9525" y="25559"/>
                </a:lnTo>
                <a:lnTo>
                  <a:pt x="11906" y="29482"/>
                </a:lnTo>
                <a:lnTo>
                  <a:pt x="14288" y="34310"/>
                </a:lnTo>
                <a:lnTo>
                  <a:pt x="16669" y="40825"/>
                </a:lnTo>
                <a:lnTo>
                  <a:pt x="19050" y="57150"/>
                </a:lnTo>
                <a:lnTo>
                  <a:pt x="19050" y="581323"/>
                </a:lnTo>
                <a:lnTo>
                  <a:pt x="16669" y="597648"/>
                </a:lnTo>
                <a:lnTo>
                  <a:pt x="14288" y="604163"/>
                </a:lnTo>
                <a:lnTo>
                  <a:pt x="11906" y="608990"/>
                </a:lnTo>
                <a:lnTo>
                  <a:pt x="9525" y="612914"/>
                </a:lnTo>
                <a:lnTo>
                  <a:pt x="7144" y="616239"/>
                </a:lnTo>
                <a:lnTo>
                  <a:pt x="4763" y="619124"/>
                </a:lnTo>
                <a:lnTo>
                  <a:pt x="2381" y="621664"/>
                </a:lnTo>
                <a:lnTo>
                  <a:pt x="0" y="623920"/>
                </a:lnTo>
                <a:close/>
              </a:path>
            </a:pathLst>
          </a:custGeom>
          <a:solidFill>
            <a:srgbClr val="4FB8D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4309765" y="3739530"/>
            <a:ext cx="271760" cy="7590"/>
          </a:xfrm>
          <a:prstGeom prst="rect">
            <a:avLst/>
          </a:prstGeom>
          <a:gradFill rotWithShape="1">
            <a:gsLst>
              <a:gs pos="0">
                <a:srgbClr val="4FB8D4">
                  <a:alpha val="50000"/>
                </a:srgbClr>
              </a:gs>
              <a:gs pos="100000">
                <a:srgbClr val="4FB8D4">
                  <a:alpha val="1000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779169" y="3519934"/>
            <a:ext cx="1775281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kern="0" spc="34" dirty="0">
                <a:solidFill>
                  <a:srgbClr val="4FB8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FOLLOW THE HIGHER PATH</a:t>
            </a:r>
            <a:endParaRPr lang="en-US" sz="84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8123" y="3517636"/>
            <a:ext cx="132588" cy="13258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709666" y="3677096"/>
            <a:ext cx="2915561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F0F4F8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drill-down effort on the higher-weighted branch first. Then return to the other branch.</a:t>
            </a:r>
            <a:endParaRPr lang="en-US" sz="760" dirty="0"/>
          </a:p>
        </p:txBody>
      </p:sp>
      <p:sp>
        <p:nvSpPr>
          <p:cNvPr id="33" name="Text 27"/>
          <p:cNvSpPr/>
          <p:nvPr/>
        </p:nvSpPr>
        <p:spPr>
          <a:xfrm>
            <a:off x="1143000" y="4238179"/>
            <a:ext cx="3143250" cy="638473"/>
          </a:xfrm>
          <a:prstGeom prst="roundRect">
            <a:avLst>
              <a:gd name="adj" fmla="val 8951"/>
            </a:avLst>
          </a:prstGeom>
          <a:solidFill>
            <a:srgbClr val="1A3A5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1143000" y="4238179"/>
            <a:ext cx="19050" cy="638473"/>
          </a:xfrm>
          <a:custGeom>
            <a:avLst/>
            <a:gdLst/>
            <a:ahLst/>
            <a:cxnLst/>
            <a:rect l="l" t="t" r="r" b="b"/>
            <a:pathLst>
              <a:path w="19050" h="638473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623920"/>
                </a:lnTo>
                <a:lnTo>
                  <a:pt x="16669" y="621664"/>
                </a:lnTo>
                <a:lnTo>
                  <a:pt x="14288" y="619124"/>
                </a:lnTo>
                <a:lnTo>
                  <a:pt x="11906" y="616239"/>
                </a:lnTo>
                <a:lnTo>
                  <a:pt x="9525" y="612914"/>
                </a:lnTo>
                <a:lnTo>
                  <a:pt x="7144" y="608990"/>
                </a:lnTo>
                <a:lnTo>
                  <a:pt x="4763" y="604163"/>
                </a:lnTo>
                <a:lnTo>
                  <a:pt x="2381" y="597648"/>
                </a:lnTo>
                <a:lnTo>
                  <a:pt x="0" y="581323"/>
                </a:lnTo>
                <a:close/>
              </a:path>
            </a:pathLst>
          </a:custGeom>
          <a:solidFill>
            <a:srgbClr val="E8A42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4276725" y="4553620"/>
            <a:ext cx="271760" cy="7590"/>
          </a:xfrm>
          <a:prstGeom prst="rect">
            <a:avLst/>
          </a:prstGeom>
          <a:gradFill rotWithShape="1">
            <a:gsLst>
              <a:gs pos="0">
                <a:srgbClr val="E8A427">
                  <a:alpha val="50000"/>
                </a:srgbClr>
              </a:gs>
              <a:gs pos="100000">
                <a:srgbClr val="E8A427">
                  <a:alpha val="1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2327136" y="4334024"/>
            <a:ext cx="182144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08"/>
              </a:lnSpc>
              <a:buNone/>
            </a:pPr>
            <a:r>
              <a:rPr lang="en-US" sz="840" b="1" kern="0" spc="34" dirty="0">
                <a:solidFill>
                  <a:srgbClr val="E8A4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REPEAT UNTIL ACTIONABLE</a:t>
            </a:r>
            <a:endParaRPr lang="en-US" sz="84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91677" y="4331726"/>
            <a:ext cx="132588" cy="13258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233023" y="4491186"/>
            <a:ext cx="2915561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40"/>
              </a:lnSpc>
              <a:buNone/>
            </a:pPr>
            <a:r>
              <a:rPr lang="en-US" sz="760" dirty="0">
                <a:solidFill>
                  <a:srgbClr val="F0F4F8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splitting until the team arrives at a specific, executable action. Understanding of strategy and consensus emerge naturally.</a:t>
            </a:r>
            <a:endParaRPr lang="en-US" sz="760" dirty="0"/>
          </a:p>
        </p:txBody>
      </p:sp>
      <p:sp>
        <p:nvSpPr>
          <p:cNvPr id="39" name="Text 32"/>
          <p:cNvSpPr/>
          <p:nvPr/>
        </p:nvSpPr>
        <p:spPr>
          <a:xfrm>
            <a:off x="457200" y="4937224"/>
            <a:ext cx="2726829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A7FA5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3255020" y="4882009"/>
            <a:ext cx="289735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50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DECISION PATH  ·  DECISION INTELLIGENCE FRAMEWORK</a:t>
            </a:r>
            <a:endParaRPr lang="en-US" sz="620" dirty="0"/>
          </a:p>
        </p:txBody>
      </p:sp>
      <p:sp>
        <p:nvSpPr>
          <p:cNvPr id="41" name="Text 34"/>
          <p:cNvSpPr/>
          <p:nvPr/>
        </p:nvSpPr>
        <p:spPr>
          <a:xfrm>
            <a:off x="5959971" y="4937224"/>
            <a:ext cx="2726829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A7FA5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4493270" y="1222325"/>
            <a:ext cx="157460" cy="157460"/>
          </a:xfrm>
          <a:prstGeom prst="ellipse">
            <a:avLst/>
          </a:prstGeom>
          <a:solidFill>
            <a:srgbClr val="0D1B2A"/>
          </a:solidFill>
          <a:ln w="9525">
            <a:solidFill>
              <a:srgbClr val="E8A427"/>
            </a:solidFill>
          </a:ln>
          <a:effectLst>
            <a:outerShdw blurRad="86360" dist="50800" dir="16200000" algn="bl" rotWithShape="0">
              <a:srgbClr val="E8A427">
                <a:alpha val="4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4539555" y="1268611"/>
            <a:ext cx="64740" cy="64740"/>
          </a:xfrm>
          <a:prstGeom prst="ellipse">
            <a:avLst/>
          </a:pr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4507929" y="1129754"/>
            <a:ext cx="128141" cy="140955"/>
          </a:xfrm>
          <a:prstGeom prst="ellipse">
            <a:avLst/>
          </a:prstGeom>
          <a:solidFill>
            <a:srgbClr val="E8A427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" dirty="0"/>
          </a:p>
        </p:txBody>
      </p:sp>
      <p:sp>
        <p:nvSpPr>
          <p:cNvPr id="45" name="Text 38"/>
          <p:cNvSpPr/>
          <p:nvPr/>
        </p:nvSpPr>
        <p:spPr>
          <a:xfrm>
            <a:off x="4493270" y="2036415"/>
            <a:ext cx="157460" cy="157460"/>
          </a:xfrm>
          <a:prstGeom prst="ellipse">
            <a:avLst/>
          </a:prstGeom>
          <a:solidFill>
            <a:srgbClr val="0D1B2A"/>
          </a:solidFill>
          <a:ln w="9525">
            <a:solidFill>
              <a:srgbClr val="E8A427"/>
            </a:solidFill>
          </a:ln>
          <a:effectLst>
            <a:outerShdw blurRad="86360" dist="50800" dir="16200000" algn="bl" rotWithShape="0">
              <a:srgbClr val="E8A427">
                <a:alpha val="4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4539555" y="2082701"/>
            <a:ext cx="64740" cy="64740"/>
          </a:xfrm>
          <a:prstGeom prst="ellipse">
            <a:avLst/>
          </a:pr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4507929" y="1943844"/>
            <a:ext cx="128141" cy="140955"/>
          </a:xfrm>
          <a:prstGeom prst="ellipse">
            <a:avLst/>
          </a:prstGeom>
          <a:solidFill>
            <a:srgbClr val="E8A427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" dirty="0"/>
          </a:p>
        </p:txBody>
      </p:sp>
      <p:sp>
        <p:nvSpPr>
          <p:cNvPr id="48" name="Text 41"/>
          <p:cNvSpPr/>
          <p:nvPr/>
        </p:nvSpPr>
        <p:spPr>
          <a:xfrm>
            <a:off x="4493270" y="2850505"/>
            <a:ext cx="157460" cy="157460"/>
          </a:xfrm>
          <a:prstGeom prst="ellipse">
            <a:avLst/>
          </a:prstGeom>
          <a:solidFill>
            <a:srgbClr val="0D1B2A"/>
          </a:solidFill>
          <a:ln w="9525">
            <a:solidFill>
              <a:srgbClr val="E8A427"/>
            </a:solidFill>
          </a:ln>
          <a:effectLst>
            <a:outerShdw blurRad="86360" dist="50800" dir="16200000" algn="bl" rotWithShape="0">
              <a:srgbClr val="E8A427">
                <a:alpha val="4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4539555" y="2896791"/>
            <a:ext cx="64740" cy="64740"/>
          </a:xfrm>
          <a:prstGeom prst="ellipse">
            <a:avLst/>
          </a:pr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4507929" y="2757934"/>
            <a:ext cx="128141" cy="140955"/>
          </a:xfrm>
          <a:prstGeom prst="ellipse">
            <a:avLst/>
          </a:prstGeom>
          <a:solidFill>
            <a:srgbClr val="E8A427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" dirty="0"/>
          </a:p>
        </p:txBody>
      </p:sp>
      <p:sp>
        <p:nvSpPr>
          <p:cNvPr id="51" name="Text 44"/>
          <p:cNvSpPr/>
          <p:nvPr/>
        </p:nvSpPr>
        <p:spPr>
          <a:xfrm>
            <a:off x="4493270" y="3664595"/>
            <a:ext cx="157460" cy="157460"/>
          </a:xfrm>
          <a:prstGeom prst="ellipse">
            <a:avLst/>
          </a:prstGeom>
          <a:solidFill>
            <a:srgbClr val="0D1B2A"/>
          </a:solidFill>
          <a:ln w="9525">
            <a:solidFill>
              <a:srgbClr val="E8A427"/>
            </a:solidFill>
          </a:ln>
          <a:effectLst>
            <a:outerShdw blurRad="86360" dist="50800" dir="16200000" algn="bl" rotWithShape="0">
              <a:srgbClr val="E8A427">
                <a:alpha val="4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5"/>
          <p:cNvSpPr/>
          <p:nvPr/>
        </p:nvSpPr>
        <p:spPr>
          <a:xfrm>
            <a:off x="4539555" y="3710880"/>
            <a:ext cx="64740" cy="64740"/>
          </a:xfrm>
          <a:prstGeom prst="ellipse">
            <a:avLst/>
          </a:pr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6"/>
          <p:cNvSpPr/>
          <p:nvPr/>
        </p:nvSpPr>
        <p:spPr>
          <a:xfrm>
            <a:off x="4507929" y="3572024"/>
            <a:ext cx="128141" cy="140955"/>
          </a:xfrm>
          <a:prstGeom prst="ellipse">
            <a:avLst/>
          </a:prstGeom>
          <a:solidFill>
            <a:srgbClr val="E8A427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60" dirty="0"/>
          </a:p>
        </p:txBody>
      </p:sp>
      <p:sp>
        <p:nvSpPr>
          <p:cNvPr id="54" name="Text 47"/>
          <p:cNvSpPr/>
          <p:nvPr/>
        </p:nvSpPr>
        <p:spPr>
          <a:xfrm>
            <a:off x="4493270" y="4478685"/>
            <a:ext cx="157460" cy="157460"/>
          </a:xfrm>
          <a:prstGeom prst="ellipse">
            <a:avLst/>
          </a:prstGeom>
          <a:solidFill>
            <a:srgbClr val="0D1B2A"/>
          </a:solidFill>
          <a:ln w="9525">
            <a:solidFill>
              <a:srgbClr val="E8A427"/>
            </a:solidFill>
          </a:ln>
          <a:effectLst>
            <a:outerShdw blurRad="128270" dist="50800" dir="16200000" algn="bl" rotWithShape="0">
              <a:srgbClr val="E8A427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4539555" y="4524970"/>
            <a:ext cx="64740" cy="64740"/>
          </a:xfrm>
          <a:prstGeom prst="ellipse">
            <a:avLst/>
          </a:pr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9"/>
          <p:cNvSpPr/>
          <p:nvPr/>
        </p:nvSpPr>
        <p:spPr>
          <a:xfrm>
            <a:off x="4507929" y="4386114"/>
            <a:ext cx="128141" cy="140955"/>
          </a:xfrm>
          <a:prstGeom prst="ellipse">
            <a:avLst/>
          </a:prstGeom>
          <a:solidFill>
            <a:srgbClr val="E8A427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A7A7A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A7A7A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35421"/>
          </a:xfrm>
          <a:prstGeom prst="rect">
            <a:avLst/>
          </a:prstGeom>
          <a:gradFill rotWithShape="1">
            <a:gsLst>
              <a:gs pos="0">
                <a:srgbClr val="2AA8A8"/>
              </a:gs>
              <a:gs pos="40000">
                <a:srgbClr val="1A7A7A"/>
              </a:gs>
              <a:gs pos="60000">
                <a:srgbClr val="E8A427"/>
              </a:gs>
              <a:gs pos="100000">
                <a:srgbClr val="F0B84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9220" y="128141"/>
            <a:ext cx="8865549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1"/>
              </a:lnSpc>
              <a:buNone/>
            </a:pPr>
            <a:r>
              <a:rPr lang="en-US" sz="1910" kern="0" spc="-3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Binary Path </a:t>
            </a:r>
            <a:r>
              <a:rPr lang="en-US" sz="1910" b="1" kern="0" spc="-3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Powers a Bigger Vision</a:t>
            </a:r>
            <a:endParaRPr lang="en-US" sz="1910" dirty="0"/>
          </a:p>
        </p:txBody>
      </p:sp>
      <p:sp>
        <p:nvSpPr>
          <p:cNvPr id="6" name="Text 4"/>
          <p:cNvSpPr/>
          <p:nvPr/>
        </p:nvSpPr>
        <p:spPr>
          <a:xfrm>
            <a:off x="429220" y="430411"/>
            <a:ext cx="911411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80"/>
              </a:spcBef>
              <a:buNone/>
            </a:pPr>
            <a:r>
              <a:rPr lang="en-US" sz="840" kern="0" spc="1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Decision Path — An AI-Assisted Decision Intelligence Platform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429220" y="786110"/>
            <a:ext cx="8285559" cy="7590"/>
          </a:xfrm>
          <a:prstGeom prst="rect">
            <a:avLst/>
          </a:prstGeom>
          <a:gradFill rotWithShape="1">
            <a:gsLst>
              <a:gs pos="0">
                <a:srgbClr val="2AA8A8"/>
              </a:gs>
              <a:gs pos="50000">
                <a:srgbClr val="C8D8E8"/>
              </a:gs>
              <a:gs pos="100000">
                <a:srgbClr val="E8A427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5750" y="857250"/>
            <a:ext cx="4158109" cy="4071640"/>
          </a:xfrm>
          <a:prstGeom prst="roundRect">
            <a:avLst>
              <a:gd name="adj" fmla="val 2807"/>
            </a:avLst>
          </a:prstGeom>
          <a:gradFill rotWithShape="1">
            <a:gsLst>
              <a:gs pos="0">
                <a:srgbClr val="EAF6F6"/>
              </a:gs>
              <a:gs pos="100000">
                <a:srgbClr val="D8EEF2"/>
              </a:gs>
            </a:gsLst>
            <a:lin ang="3300000" scaled="1"/>
          </a:gradFill>
          <a:ln w="9525">
            <a:solidFill>
              <a:srgbClr val="1A7A7A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5275" y="866775"/>
            <a:ext cx="571500" cy="571500"/>
          </a:xfrm>
          <a:prstGeom prst="rect">
            <a:avLst/>
          </a:prstGeom>
          <a:gradFill rotWithShape="1">
            <a:gsLst>
              <a:gs pos="0">
                <a:srgbClr val="1A7A7A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95275" y="4890195"/>
            <a:ext cx="4139059" cy="29170"/>
          </a:xfrm>
          <a:prstGeom prst="rect">
            <a:avLst/>
          </a:prstGeom>
          <a:gradFill rotWithShape="1">
            <a:gsLst>
              <a:gs pos="0">
                <a:srgbClr val="2AA8A8"/>
              </a:gs>
              <a:gs pos="100000">
                <a:srgbClr val="1A7A7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3875" y="1067395"/>
            <a:ext cx="1658314" cy="277862"/>
          </a:xfrm>
          <a:prstGeom prst="roundRect">
            <a:avLst>
              <a:gd name="adj" fmla="val 20568"/>
            </a:avLst>
          </a:prstGeom>
          <a:solidFill>
            <a:srgbClr val="1A7A7A">
              <a:alpha val="12000"/>
            </a:srgbClr>
          </a:solidFill>
          <a:ln w="9525">
            <a:solidFill>
              <a:srgbClr val="1A7A7A">
                <a:alpha val="25000"/>
              </a:srgbClr>
            </a:solidFill>
          </a:ln>
        </p:spPr>
        <p:txBody>
          <a:bodyPr wrap="none" lIns="293350" tIns="49530" rIns="100330" bIns="49530" rtlCol="0" anchor="ctr"/>
          <a:lstStyle/>
          <a:p>
            <a:pPr marL="0" indent="0" algn="l">
              <a:buNone/>
            </a:pPr>
            <a:r>
              <a:rPr lang="en-US" sz="840" b="1" kern="0" spc="30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PATH ENGINE</a:t>
            </a:r>
            <a:endParaRPr lang="en-US" sz="84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391" y="1127522"/>
            <a:ext cx="157460" cy="1574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23875" y="1510308"/>
            <a:ext cx="200620" cy="200620"/>
          </a:xfrm>
          <a:prstGeom prst="ellipse">
            <a:avLst/>
          </a:prstGeom>
          <a:solidFill>
            <a:srgbClr val="1A7A7A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817" y="1544250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10816" y="1502718"/>
            <a:ext cx="3072982" cy="31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4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any problem into binary branches</a:t>
            </a:r>
            <a:r>
              <a:rPr lang="en-US" sz="87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6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goal or challenge is split into exactly two logical contributor groups</a:t>
            </a:r>
            <a:endParaRPr lang="en-US" sz="870" dirty="0"/>
          </a:p>
        </p:txBody>
      </p:sp>
      <p:sp>
        <p:nvSpPr>
          <p:cNvPr id="16" name="Text 12"/>
          <p:cNvSpPr/>
          <p:nvPr/>
        </p:nvSpPr>
        <p:spPr>
          <a:xfrm>
            <a:off x="523875" y="1912888"/>
            <a:ext cx="200620" cy="200620"/>
          </a:xfrm>
          <a:prstGeom prst="ellipse">
            <a:avLst/>
          </a:prstGeom>
          <a:solidFill>
            <a:srgbClr val="1A7A7A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817" y="1946830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0816" y="1905298"/>
            <a:ext cx="3122015" cy="31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4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weighted priorities</a:t>
            </a:r>
            <a:r>
              <a:rPr lang="en-US" sz="87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6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receives a % ease-of-impact score set by team consensus</a:t>
            </a:r>
            <a:endParaRPr lang="en-US" sz="870" dirty="0"/>
          </a:p>
        </p:txBody>
      </p:sp>
      <p:sp>
        <p:nvSpPr>
          <p:cNvPr id="19" name="Text 14"/>
          <p:cNvSpPr/>
          <p:nvPr/>
        </p:nvSpPr>
        <p:spPr>
          <a:xfrm>
            <a:off x="523875" y="2315468"/>
            <a:ext cx="200620" cy="200620"/>
          </a:xfrm>
          <a:prstGeom prst="ellipse">
            <a:avLst/>
          </a:prstGeom>
          <a:solidFill>
            <a:srgbClr val="1A7A7A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817" y="2349410"/>
            <a:ext cx="132588" cy="132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0816" y="2307878"/>
            <a:ext cx="2766792" cy="31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4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recursive clarity level by level</a:t>
            </a:r>
            <a:r>
              <a:rPr lang="en-US" sz="87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6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down repeatedly until actionable specifics emerge naturally</a:t>
            </a:r>
            <a:endParaRPr lang="en-US" sz="870" dirty="0"/>
          </a:p>
        </p:txBody>
      </p:sp>
      <p:sp>
        <p:nvSpPr>
          <p:cNvPr id="22" name="Text 16"/>
          <p:cNvSpPr/>
          <p:nvPr/>
        </p:nvSpPr>
        <p:spPr>
          <a:xfrm>
            <a:off x="523875" y="2718048"/>
            <a:ext cx="200620" cy="200620"/>
          </a:xfrm>
          <a:prstGeom prst="ellipse">
            <a:avLst/>
          </a:prstGeom>
          <a:solidFill>
            <a:srgbClr val="1A7A7A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817" y="2751990"/>
            <a:ext cx="132588" cy="132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10816" y="2710458"/>
            <a:ext cx="3111541" cy="31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4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team consensus through simplicity</a:t>
            </a:r>
            <a:r>
              <a:rPr lang="en-US" sz="87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6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Two-option thinking eliminates debate overload and aligns stakeholders</a:t>
            </a:r>
            <a:endParaRPr lang="en-US" sz="870" dirty="0"/>
          </a:p>
        </p:txBody>
      </p:sp>
      <p:sp>
        <p:nvSpPr>
          <p:cNvPr id="25" name="Text 18"/>
          <p:cNvSpPr/>
          <p:nvPr/>
        </p:nvSpPr>
        <p:spPr>
          <a:xfrm>
            <a:off x="4700141" y="857250"/>
            <a:ext cx="4158109" cy="4071640"/>
          </a:xfrm>
          <a:prstGeom prst="roundRect">
            <a:avLst>
              <a:gd name="adj" fmla="val 2807"/>
            </a:avLst>
          </a:prstGeom>
          <a:gradFill rotWithShape="1">
            <a:gsLst>
              <a:gs pos="0">
                <a:srgbClr val="FEFAF0"/>
              </a:gs>
              <a:gs pos="100000">
                <a:srgbClr val="FDF0D0"/>
              </a:gs>
            </a:gsLst>
            <a:lin ang="3300000" scaled="1"/>
          </a:gradFill>
          <a:ln w="9525">
            <a:solidFill>
              <a:srgbClr val="E8A427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8277225" y="866775"/>
            <a:ext cx="571500" cy="571500"/>
          </a:xfrm>
          <a:prstGeom prst="rect">
            <a:avLst/>
          </a:prstGeom>
          <a:gradFill rotWithShape="1">
            <a:gsLst>
              <a:gs pos="0">
                <a:srgbClr val="E8A427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4709666" y="4890195"/>
            <a:ext cx="4139059" cy="29170"/>
          </a:xfrm>
          <a:prstGeom prst="rect">
            <a:avLst/>
          </a:prstGeom>
          <a:gradFill rotWithShape="1">
            <a:gsLst>
              <a:gs pos="0">
                <a:srgbClr val="E8A427"/>
              </a:gs>
              <a:gs pos="100000">
                <a:srgbClr val="F0B84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4938266" y="1067395"/>
            <a:ext cx="2197069" cy="277862"/>
          </a:xfrm>
          <a:prstGeom prst="roundRect">
            <a:avLst>
              <a:gd name="adj" fmla="val 20568"/>
            </a:avLst>
          </a:prstGeom>
          <a:solidFill>
            <a:srgbClr val="E8A427">
              <a:alpha val="12000"/>
            </a:srgbClr>
          </a:solidFill>
          <a:ln w="9525">
            <a:solidFill>
              <a:srgbClr val="E8A427">
                <a:alpha val="30000"/>
              </a:srgbClr>
            </a:solidFill>
          </a:ln>
        </p:spPr>
        <p:txBody>
          <a:bodyPr wrap="none" lIns="293350" tIns="49530" rIns="100330" bIns="49530" rtlCol="0" anchor="ctr"/>
          <a:lstStyle/>
          <a:p>
            <a:pPr marL="0" indent="0" algn="l">
              <a:buNone/>
            </a:pPr>
            <a:r>
              <a:rPr lang="en-US" sz="840" b="1" kern="0" spc="30" dirty="0">
                <a:solidFill>
                  <a:srgbClr val="B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DECISION PATH WRAPPER</a:t>
            </a:r>
            <a:endParaRPr lang="en-US" sz="84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18782" y="1127522"/>
            <a:ext cx="157460" cy="1574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38266" y="1510308"/>
            <a:ext cx="200620" cy="200620"/>
          </a:xfrm>
          <a:prstGeom prst="ellipse">
            <a:avLst/>
          </a:prstGeom>
          <a:solidFill>
            <a:srgbClr val="E8A42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72208" y="1544250"/>
            <a:ext cx="132588" cy="13258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25207" y="1502718"/>
            <a:ext cx="3134615" cy="31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4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Classify the Decision</a:t>
            </a:r>
            <a:r>
              <a:rPr lang="en-US" sz="87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6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complexity, urgency, reversibility — framed before analysis begins</a:t>
            </a:r>
            <a:endParaRPr lang="en-US" sz="870" dirty="0"/>
          </a:p>
        </p:txBody>
      </p:sp>
      <p:sp>
        <p:nvSpPr>
          <p:cNvPr id="33" name="Text 24"/>
          <p:cNvSpPr/>
          <p:nvPr/>
        </p:nvSpPr>
        <p:spPr>
          <a:xfrm>
            <a:off x="4938266" y="1912888"/>
            <a:ext cx="200620" cy="200620"/>
          </a:xfrm>
          <a:prstGeom prst="ellipse">
            <a:avLst/>
          </a:prstGeom>
          <a:solidFill>
            <a:srgbClr val="E8A42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72208" y="1946830"/>
            <a:ext cx="132588" cy="13258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25207" y="1905298"/>
            <a:ext cx="3089377" cy="31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4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Assess the Decision Maker</a:t>
            </a:r>
            <a:r>
              <a:rPr lang="en-US" sz="87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6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Emotions, fatigue, bias check — who is making the decision right now?</a:t>
            </a:r>
            <a:endParaRPr lang="en-US" sz="870" dirty="0"/>
          </a:p>
        </p:txBody>
      </p:sp>
      <p:sp>
        <p:nvSpPr>
          <p:cNvPr id="36" name="Text 26"/>
          <p:cNvSpPr/>
          <p:nvPr/>
        </p:nvSpPr>
        <p:spPr>
          <a:xfrm>
            <a:off x="4938266" y="2315468"/>
            <a:ext cx="200620" cy="200620"/>
          </a:xfrm>
          <a:prstGeom prst="ellipse">
            <a:avLst/>
          </a:prstGeom>
          <a:solidFill>
            <a:srgbClr val="E8A42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72208" y="2349410"/>
            <a:ext cx="132588" cy="13258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225207" y="2307878"/>
            <a:ext cx="3227519" cy="31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4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Create a Values Profile</a:t>
            </a:r>
            <a:r>
              <a:rPr lang="en-US" sz="87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6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most to this person? Family, money, freedom, health, legacy</a:t>
            </a:r>
            <a:endParaRPr lang="en-US" sz="870" dirty="0"/>
          </a:p>
        </p:txBody>
      </p:sp>
      <p:sp>
        <p:nvSpPr>
          <p:cNvPr id="39" name="Text 28"/>
          <p:cNvSpPr/>
          <p:nvPr/>
        </p:nvSpPr>
        <p:spPr>
          <a:xfrm>
            <a:off x="4938266" y="2718048"/>
            <a:ext cx="200620" cy="200620"/>
          </a:xfrm>
          <a:prstGeom prst="ellipse">
            <a:avLst/>
          </a:prstGeom>
          <a:solidFill>
            <a:srgbClr val="E8A42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72208" y="2751990"/>
            <a:ext cx="132588" cy="13258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225207" y="2710458"/>
            <a:ext cx="3462817" cy="464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4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Select the Model &amp; Generate Outcomes</a:t>
            </a:r>
            <a:r>
              <a:rPr lang="en-US" sz="87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6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framework selected; AI generates scenario outcomes and the path forward</a:t>
            </a:r>
            <a:endParaRPr lang="en-US" sz="870" dirty="0"/>
          </a:p>
        </p:txBody>
      </p:sp>
      <p:sp>
        <p:nvSpPr>
          <p:cNvPr id="42" name="Text 30"/>
          <p:cNvSpPr/>
          <p:nvPr/>
        </p:nvSpPr>
        <p:spPr>
          <a:xfrm>
            <a:off x="14942" y="4943029"/>
            <a:ext cx="911411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kern="0" spc="2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Decision Path is the intellectual engine  ·  The Binary Decision Cockpit is the practice companion</a:t>
            </a:r>
            <a:endParaRPr lang="en-US" sz="680" dirty="0"/>
          </a:p>
        </p:txBody>
      </p:sp>
      <p:sp>
        <p:nvSpPr>
          <p:cNvPr id="43" name="Text 31"/>
          <p:cNvSpPr/>
          <p:nvPr/>
        </p:nvSpPr>
        <p:spPr>
          <a:xfrm>
            <a:off x="4565005" y="857250"/>
            <a:ext cx="13841" cy="1906935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2AA8A8"/>
              </a:gs>
              <a:gs pos="60000">
                <a:srgbClr val="E8A427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2"/>
          <p:cNvSpPr/>
          <p:nvPr/>
        </p:nvSpPr>
        <p:spPr>
          <a:xfrm>
            <a:off x="4443115" y="2764185"/>
            <a:ext cx="257770" cy="257770"/>
          </a:xfrm>
          <a:prstGeom prst="ellipse">
            <a:avLst/>
          </a:prstGeom>
          <a:solidFill>
            <a:srgbClr val="F4F7FB"/>
          </a:solidFill>
          <a:ln w="9525">
            <a:solidFill>
              <a:srgbClr val="C8D8E8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05706" y="2826776"/>
            <a:ext cx="132588" cy="132588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4565005" y="3021955"/>
            <a:ext cx="13841" cy="1906935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2AA8A8"/>
              </a:gs>
              <a:gs pos="60000">
                <a:srgbClr val="E8A427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7189EAF3-5AF4-8E67-85B4-6F47CDD8451B}"/>
              </a:ext>
            </a:extLst>
          </p:cNvPr>
          <p:cNvSpPr/>
          <p:nvPr/>
        </p:nvSpPr>
        <p:spPr>
          <a:xfrm>
            <a:off x="5459188" y="3935640"/>
            <a:ext cx="2797610" cy="433239"/>
          </a:xfrm>
          <a:prstGeom prst="roundRect">
            <a:avLst>
              <a:gd name="adj" fmla="val 20568"/>
            </a:avLst>
          </a:prstGeom>
          <a:solidFill>
            <a:srgbClr val="E8A427">
              <a:alpha val="12000"/>
            </a:srgbClr>
          </a:solidFill>
          <a:ln w="9525">
            <a:solidFill>
              <a:srgbClr val="E8A427">
                <a:alpha val="30000"/>
              </a:srgbClr>
            </a:solidFill>
          </a:ln>
        </p:spPr>
        <p:txBody>
          <a:bodyPr wrap="none" lIns="293350" tIns="49530" rIns="100330" bIns="49530" rtlCol="0" anchor="ctr"/>
          <a:lstStyle/>
          <a:p>
            <a:pPr marL="0" indent="0" algn="ctr">
              <a:buNone/>
            </a:pPr>
            <a:r>
              <a:rPr lang="en-US" sz="1200" b="1" kern="0" spc="30" dirty="0">
                <a:solidFill>
                  <a:srgbClr val="B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DECISION PATH</a:t>
            </a:r>
          </a:p>
          <a:p>
            <a:pPr algn="ctr"/>
            <a:r>
              <a:rPr lang="en-US" sz="900" dirty="0"/>
              <a:t>A philosophy and process for wise decision-making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A3A5C">
                  <a:alpha val="4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85000" t="50000" r="15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427">
                  <a:alpha val="6000"/>
                </a:srgbClr>
              </a:gs>
              <a:gs pos="65000">
                <a:srgbClr val="000000">
                  <a:alpha val="0"/>
                </a:srgbClr>
              </a:gs>
            </a:gsLst>
            <a:path path="circle">
              <a:fillToRect l="15000" t="80000" r="85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E8A427"/>
              </a:gs>
              <a:gs pos="70000">
                <a:srgbClr val="E8A42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429220"/>
            <a:ext cx="21580" cy="51435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E8A427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38207" y="342900"/>
            <a:ext cx="74423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7" dirty="0">
                <a:solidFill>
                  <a:srgbClr val="E8A427">
                    <a:alpha val="1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1 0 1 1 0 1 0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8038207" y="496342"/>
            <a:ext cx="74423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7" dirty="0">
                <a:solidFill>
                  <a:srgbClr val="E8A427">
                    <a:alpha val="1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0 1 0 0 1 0 1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8038207" y="649784"/>
            <a:ext cx="74423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7" dirty="0">
                <a:solidFill>
                  <a:srgbClr val="E8A427">
                    <a:alpha val="1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1 1 0 1 0 0 1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8038207" y="803225"/>
            <a:ext cx="74423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7" dirty="0">
                <a:solidFill>
                  <a:srgbClr val="E8A427">
                    <a:alpha val="1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0 0 1 0 1 1 0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5763071" y="4868019"/>
            <a:ext cx="324687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74" dirty="0">
                <a:solidFill>
                  <a:srgbClr val="8FAFC8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COMPASS · DECISION INTELLIGENCE PLATFORM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438745" y="1269653"/>
            <a:ext cx="342900" cy="17711"/>
          </a:xfrm>
          <a:custGeom>
            <a:avLst/>
            <a:gdLst/>
            <a:ahLst/>
            <a:cxnLst/>
            <a:rect l="l" t="t" r="r" b="b"/>
            <a:pathLst>
              <a:path w="342900" h="17711">
                <a:moveTo>
                  <a:pt x="0" y="0"/>
                </a:moveTo>
                <a:lnTo>
                  <a:pt x="342900" y="0"/>
                </a:lnTo>
                <a:lnTo>
                  <a:pt x="342900" y="3741"/>
                </a:lnTo>
                <a:lnTo>
                  <a:pt x="342900" y="3741"/>
                </a:lnTo>
                <a:lnTo>
                  <a:pt x="342632" y="6466"/>
                </a:lnTo>
                <a:lnTo>
                  <a:pt x="341837" y="9087"/>
                </a:lnTo>
                <a:lnTo>
                  <a:pt x="340546" y="11502"/>
                </a:lnTo>
                <a:lnTo>
                  <a:pt x="338808" y="13619"/>
                </a:lnTo>
                <a:lnTo>
                  <a:pt x="336691" y="15356"/>
                </a:lnTo>
                <a:lnTo>
                  <a:pt x="334276" y="16647"/>
                </a:lnTo>
                <a:lnTo>
                  <a:pt x="331655" y="17442"/>
                </a:lnTo>
                <a:lnTo>
                  <a:pt x="328930" y="17711"/>
                </a:lnTo>
                <a:lnTo>
                  <a:pt x="0" y="17711"/>
                </a:lnTo>
                <a:close/>
              </a:path>
            </a:pathLst>
          </a:cu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8745" y="1269653"/>
            <a:ext cx="4059584" cy="1701108"/>
          </a:xfrm>
          <a:prstGeom prst="roundRect">
            <a:avLst>
              <a:gd name="adj" fmla="val 5077"/>
            </a:avLst>
          </a:prstGeom>
          <a:gradFill rotWithShape="1">
            <a:gsLst>
              <a:gs pos="0">
                <a:srgbClr val="E8A427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45521" y="1269653"/>
            <a:ext cx="342900" cy="17711"/>
          </a:xfrm>
          <a:custGeom>
            <a:avLst/>
            <a:gdLst/>
            <a:ahLst/>
            <a:cxnLst/>
            <a:rect l="l" t="t" r="r" b="b"/>
            <a:pathLst>
              <a:path w="342900" h="17711">
                <a:moveTo>
                  <a:pt x="0" y="0"/>
                </a:moveTo>
                <a:lnTo>
                  <a:pt x="342900" y="0"/>
                </a:lnTo>
                <a:lnTo>
                  <a:pt x="342900" y="3741"/>
                </a:lnTo>
                <a:lnTo>
                  <a:pt x="342900" y="3741"/>
                </a:lnTo>
                <a:lnTo>
                  <a:pt x="342632" y="6466"/>
                </a:lnTo>
                <a:lnTo>
                  <a:pt x="341837" y="9087"/>
                </a:lnTo>
                <a:lnTo>
                  <a:pt x="340546" y="11502"/>
                </a:lnTo>
                <a:lnTo>
                  <a:pt x="338808" y="13619"/>
                </a:lnTo>
                <a:lnTo>
                  <a:pt x="336691" y="15356"/>
                </a:lnTo>
                <a:lnTo>
                  <a:pt x="334276" y="16647"/>
                </a:lnTo>
                <a:lnTo>
                  <a:pt x="331655" y="17442"/>
                </a:lnTo>
                <a:lnTo>
                  <a:pt x="328930" y="17711"/>
                </a:lnTo>
                <a:lnTo>
                  <a:pt x="0" y="17711"/>
                </a:lnTo>
                <a:close/>
              </a:path>
            </a:pathLst>
          </a:cu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45521" y="1269653"/>
            <a:ext cx="4059736" cy="1701108"/>
          </a:xfrm>
          <a:prstGeom prst="roundRect">
            <a:avLst>
              <a:gd name="adj" fmla="val 5077"/>
            </a:avLst>
          </a:prstGeom>
          <a:gradFill rotWithShape="1">
            <a:gsLst>
              <a:gs pos="0">
                <a:srgbClr val="E8A427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8745" y="3117949"/>
            <a:ext cx="342900" cy="17711"/>
          </a:xfrm>
          <a:custGeom>
            <a:avLst/>
            <a:gdLst/>
            <a:ahLst/>
            <a:cxnLst/>
            <a:rect l="l" t="t" r="r" b="b"/>
            <a:pathLst>
              <a:path w="342900" h="17711">
                <a:moveTo>
                  <a:pt x="0" y="0"/>
                </a:moveTo>
                <a:lnTo>
                  <a:pt x="342900" y="0"/>
                </a:lnTo>
                <a:lnTo>
                  <a:pt x="342900" y="3741"/>
                </a:lnTo>
                <a:lnTo>
                  <a:pt x="342900" y="3741"/>
                </a:lnTo>
                <a:lnTo>
                  <a:pt x="342632" y="6466"/>
                </a:lnTo>
                <a:lnTo>
                  <a:pt x="341837" y="9087"/>
                </a:lnTo>
                <a:lnTo>
                  <a:pt x="340546" y="11502"/>
                </a:lnTo>
                <a:lnTo>
                  <a:pt x="338808" y="13619"/>
                </a:lnTo>
                <a:lnTo>
                  <a:pt x="336691" y="15356"/>
                </a:lnTo>
                <a:lnTo>
                  <a:pt x="334276" y="16647"/>
                </a:lnTo>
                <a:lnTo>
                  <a:pt x="331655" y="17442"/>
                </a:lnTo>
                <a:lnTo>
                  <a:pt x="328930" y="17711"/>
                </a:lnTo>
                <a:lnTo>
                  <a:pt x="0" y="17711"/>
                </a:lnTo>
                <a:close/>
              </a:path>
            </a:pathLst>
          </a:cu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8745" y="3117949"/>
            <a:ext cx="4059584" cy="1701108"/>
          </a:xfrm>
          <a:prstGeom prst="roundRect">
            <a:avLst>
              <a:gd name="adj" fmla="val 5077"/>
            </a:avLst>
          </a:prstGeom>
          <a:gradFill rotWithShape="1">
            <a:gsLst>
              <a:gs pos="0">
                <a:srgbClr val="E8A427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45521" y="3117949"/>
            <a:ext cx="342900" cy="17711"/>
          </a:xfrm>
          <a:custGeom>
            <a:avLst/>
            <a:gdLst/>
            <a:ahLst/>
            <a:cxnLst/>
            <a:rect l="l" t="t" r="r" b="b"/>
            <a:pathLst>
              <a:path w="342900" h="17711">
                <a:moveTo>
                  <a:pt x="0" y="0"/>
                </a:moveTo>
                <a:lnTo>
                  <a:pt x="342900" y="0"/>
                </a:lnTo>
                <a:lnTo>
                  <a:pt x="342900" y="3741"/>
                </a:lnTo>
                <a:lnTo>
                  <a:pt x="342900" y="3741"/>
                </a:lnTo>
                <a:lnTo>
                  <a:pt x="342632" y="6466"/>
                </a:lnTo>
                <a:lnTo>
                  <a:pt x="341837" y="9087"/>
                </a:lnTo>
                <a:lnTo>
                  <a:pt x="340546" y="11502"/>
                </a:lnTo>
                <a:lnTo>
                  <a:pt x="338808" y="13619"/>
                </a:lnTo>
                <a:lnTo>
                  <a:pt x="336691" y="15356"/>
                </a:lnTo>
                <a:lnTo>
                  <a:pt x="334276" y="16647"/>
                </a:lnTo>
                <a:lnTo>
                  <a:pt x="331655" y="17442"/>
                </a:lnTo>
                <a:lnTo>
                  <a:pt x="328930" y="17711"/>
                </a:lnTo>
                <a:lnTo>
                  <a:pt x="0" y="17711"/>
                </a:lnTo>
                <a:close/>
              </a:path>
            </a:pathLst>
          </a:cu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45521" y="3117949"/>
            <a:ext cx="4059736" cy="1701108"/>
          </a:xfrm>
          <a:prstGeom prst="roundRect">
            <a:avLst>
              <a:gd name="adj" fmla="val 5077"/>
            </a:avLst>
          </a:prstGeom>
          <a:gradFill rotWithShape="1">
            <a:gsLst>
              <a:gs pos="0">
                <a:srgbClr val="E8A427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9220" y="342900"/>
            <a:ext cx="911411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12" dirty="0">
                <a:solidFill>
                  <a:srgbClr val="E8A42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DIFFERENT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429220" y="518071"/>
            <a:ext cx="8865549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35"/>
              </a:lnSpc>
              <a:spcAft>
                <a:spcPts val="450"/>
              </a:spcAft>
              <a:buNone/>
            </a:pPr>
            <a:r>
              <a:rPr lang="en-US" sz="2030" kern="0" spc="-20" dirty="0">
                <a:solidFill>
                  <a:srgbClr val="E8A4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the Decision — Who Are You Right Now?</a:t>
            </a:r>
            <a:endParaRPr lang="en-US" sz="2030" dirty="0"/>
          </a:p>
        </p:txBody>
      </p:sp>
      <p:sp>
        <p:nvSpPr>
          <p:cNvPr id="21" name="Text 19"/>
          <p:cNvSpPr/>
          <p:nvPr/>
        </p:nvSpPr>
        <p:spPr>
          <a:xfrm>
            <a:off x="429220" y="871538"/>
            <a:ext cx="911411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help you choose. The Decision Compass improves the chooser.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9220" y="1260128"/>
            <a:ext cx="4078635" cy="1720155"/>
          </a:xfrm>
          <a:prstGeom prst="roundRect">
            <a:avLst>
              <a:gd name="adj" fmla="val 5020"/>
            </a:avLst>
          </a:prstGeom>
          <a:solidFill>
            <a:srgbClr val="1A3A5C"/>
          </a:solidFill>
          <a:ln w="9525">
            <a:solidFill>
              <a:srgbClr val="E8A427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9366" y="1470273"/>
            <a:ext cx="372070" cy="372070"/>
          </a:xfrm>
          <a:prstGeom prst="roundRect">
            <a:avLst>
              <a:gd name="adj" fmla="val 19115"/>
            </a:avLst>
          </a:prstGeom>
          <a:solidFill>
            <a:srgbClr val="E8A427">
              <a:alpha val="12000"/>
            </a:srgbClr>
          </a:solidFill>
          <a:ln w="9525">
            <a:solidFill>
              <a:srgbClr val="E8A427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0094" y="1581001"/>
            <a:ext cx="150465" cy="150465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54906" y="1470273"/>
            <a:ext cx="345708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2"/>
              </a:lnSpc>
              <a:buNone/>
            </a:pPr>
            <a:r>
              <a:rPr lang="en-US" sz="1010" b="1" kern="0" spc="10" dirty="0">
                <a:solidFill>
                  <a:srgbClr val="E8A4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Emotional</a:t>
            </a:r>
            <a:r>
              <a:rPr lang="en-US" sz="1010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State Check</a:t>
            </a:r>
            <a:endParaRPr lang="en-US" sz="1010" dirty="0"/>
          </a:p>
        </p:txBody>
      </p:sp>
      <p:sp>
        <p:nvSpPr>
          <p:cNvPr id="26" name="Text 23"/>
          <p:cNvSpPr/>
          <p:nvPr/>
        </p:nvSpPr>
        <p:spPr>
          <a:xfrm>
            <a:off x="1154906" y="1667321"/>
            <a:ext cx="3205660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Calm? Stressed? Exhausted? Fearful? The Compass asks before any analysis begins — because the state of the mind shapes the quality of the decision.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4635996" y="1260128"/>
            <a:ext cx="4078784" cy="1720155"/>
          </a:xfrm>
          <a:prstGeom prst="roundRect">
            <a:avLst>
              <a:gd name="adj" fmla="val 5020"/>
            </a:avLst>
          </a:prstGeom>
          <a:solidFill>
            <a:srgbClr val="1A3A5C"/>
          </a:solidFill>
          <a:ln w="9525">
            <a:solidFill>
              <a:srgbClr val="E8A427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846141" y="1470273"/>
            <a:ext cx="372070" cy="372070"/>
          </a:xfrm>
          <a:prstGeom prst="roundRect">
            <a:avLst>
              <a:gd name="adj" fmla="val 19115"/>
            </a:avLst>
          </a:prstGeom>
          <a:solidFill>
            <a:srgbClr val="E8A427">
              <a:alpha val="12000"/>
            </a:srgbClr>
          </a:solidFill>
          <a:ln w="9525">
            <a:solidFill>
              <a:srgbClr val="E8A427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6870" y="1581001"/>
            <a:ext cx="150465" cy="150465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361682" y="1470273"/>
            <a:ext cx="345724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2"/>
              </a:lnSpc>
              <a:buNone/>
            </a:pPr>
            <a:r>
              <a:rPr lang="en-US" sz="1010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Mental </a:t>
            </a:r>
            <a:r>
              <a:rPr lang="en-US" sz="1010" b="1" kern="0" spc="10" dirty="0">
                <a:solidFill>
                  <a:srgbClr val="E8A4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Energy</a:t>
            </a:r>
            <a:r>
              <a:rPr lang="en-US" sz="1010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&amp; Fatigue</a:t>
            </a:r>
            <a:endParaRPr lang="en-US" sz="1010" dirty="0"/>
          </a:p>
        </p:txBody>
      </p:sp>
      <p:sp>
        <p:nvSpPr>
          <p:cNvPr id="31" name="Text 27"/>
          <p:cNvSpPr/>
          <p:nvPr/>
        </p:nvSpPr>
        <p:spPr>
          <a:xfrm>
            <a:off x="5361682" y="1667321"/>
            <a:ext cx="3205811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energy decisions vs. depleted ones deserve different frameworks. The Compass matches the model to the maker's current capacity — not an assumed ideal state.</a:t>
            </a:r>
            <a:endParaRPr lang="en-US" sz="820" dirty="0"/>
          </a:p>
        </p:txBody>
      </p:sp>
      <p:sp>
        <p:nvSpPr>
          <p:cNvPr id="32" name="Text 28"/>
          <p:cNvSpPr/>
          <p:nvPr/>
        </p:nvSpPr>
        <p:spPr>
          <a:xfrm>
            <a:off x="429220" y="3108424"/>
            <a:ext cx="4078635" cy="1720155"/>
          </a:xfrm>
          <a:prstGeom prst="roundRect">
            <a:avLst>
              <a:gd name="adj" fmla="val 5020"/>
            </a:avLst>
          </a:prstGeom>
          <a:solidFill>
            <a:srgbClr val="1A3A5C"/>
          </a:solidFill>
          <a:ln w="9525">
            <a:solidFill>
              <a:srgbClr val="E8A427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39366" y="3318570"/>
            <a:ext cx="372070" cy="372070"/>
          </a:xfrm>
          <a:prstGeom prst="roundRect">
            <a:avLst>
              <a:gd name="adj" fmla="val 19115"/>
            </a:avLst>
          </a:prstGeom>
          <a:solidFill>
            <a:srgbClr val="E8A427">
              <a:alpha val="12000"/>
            </a:srgbClr>
          </a:solidFill>
          <a:ln w="9525">
            <a:solidFill>
              <a:srgbClr val="E8A427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0094" y="3429298"/>
            <a:ext cx="150465" cy="150465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154906" y="3318570"/>
            <a:ext cx="345708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2"/>
              </a:lnSpc>
              <a:buNone/>
            </a:pPr>
            <a:r>
              <a:rPr lang="en-US" sz="1010" b="1" kern="0" spc="10" dirty="0">
                <a:solidFill>
                  <a:srgbClr val="E8A4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Bias</a:t>
            </a:r>
            <a:r>
              <a:rPr lang="en-US" sz="1010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Inventory</a:t>
            </a:r>
            <a:endParaRPr lang="en-US" sz="1010" dirty="0"/>
          </a:p>
        </p:txBody>
      </p:sp>
      <p:sp>
        <p:nvSpPr>
          <p:cNvPr id="36" name="Text 31"/>
          <p:cNvSpPr/>
          <p:nvPr/>
        </p:nvSpPr>
        <p:spPr>
          <a:xfrm>
            <a:off x="1154906" y="3515618"/>
            <a:ext cx="3205660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avoiding pain? Seeking approval? Protecting my ego? Seven bias prompts surface hidden distortions before they corrupt the analysis — not after.</a:t>
            </a:r>
            <a:endParaRPr lang="en-US" sz="820" dirty="0"/>
          </a:p>
        </p:txBody>
      </p:sp>
      <p:sp>
        <p:nvSpPr>
          <p:cNvPr id="37" name="Text 32"/>
          <p:cNvSpPr/>
          <p:nvPr/>
        </p:nvSpPr>
        <p:spPr>
          <a:xfrm>
            <a:off x="4635996" y="3108424"/>
            <a:ext cx="4078784" cy="1720155"/>
          </a:xfrm>
          <a:prstGeom prst="roundRect">
            <a:avLst>
              <a:gd name="adj" fmla="val 5020"/>
            </a:avLst>
          </a:prstGeom>
          <a:solidFill>
            <a:srgbClr val="1A3A5C"/>
          </a:solidFill>
          <a:ln w="9525">
            <a:solidFill>
              <a:srgbClr val="E8A427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4846141" y="3318570"/>
            <a:ext cx="372070" cy="372070"/>
          </a:xfrm>
          <a:prstGeom prst="roundRect">
            <a:avLst>
              <a:gd name="adj" fmla="val 19115"/>
            </a:avLst>
          </a:prstGeom>
          <a:solidFill>
            <a:srgbClr val="E8A427">
              <a:alpha val="12000"/>
            </a:srgbClr>
          </a:solidFill>
          <a:ln w="9525">
            <a:solidFill>
              <a:srgbClr val="E8A427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6870" y="3429298"/>
            <a:ext cx="150465" cy="150465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361682" y="3318570"/>
            <a:ext cx="345724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2"/>
              </a:lnSpc>
              <a:buNone/>
            </a:pPr>
            <a:r>
              <a:rPr lang="en-US" sz="1010" b="1" kern="0" spc="10" dirty="0">
                <a:solidFill>
                  <a:srgbClr val="E8A4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Values</a:t>
            </a:r>
            <a:r>
              <a:rPr lang="en-US" sz="1010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Alignment</a:t>
            </a:r>
            <a:endParaRPr lang="en-US" sz="1010" dirty="0"/>
          </a:p>
        </p:txBody>
      </p:sp>
      <p:sp>
        <p:nvSpPr>
          <p:cNvPr id="41" name="Text 35"/>
          <p:cNvSpPr/>
          <p:nvPr/>
        </p:nvSpPr>
        <p:spPr>
          <a:xfrm>
            <a:off x="5361682" y="3515618"/>
            <a:ext cx="3205811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8F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temporary values profile — Family, Money, Freedom, Health, Legacy — ensures the decision serves the real person, not the reactive one in the room.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070" y="157460"/>
            <a:ext cx="342900" cy="29170"/>
          </a:xfrm>
          <a:prstGeom prst="roundRect">
            <a:avLst>
              <a:gd name="adj" fmla="val 47892"/>
            </a:avLst>
          </a:pr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2070" y="229791"/>
            <a:ext cx="8987850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38"/>
              </a:lnSpc>
              <a:spcAft>
                <a:spcPts val="230"/>
              </a:spcAft>
              <a:buNone/>
            </a:pPr>
            <a:r>
              <a:rPr lang="en-US" sz="1580" b="1" kern="0" spc="16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Strategic Positioning Among Decision Frameworks</a:t>
            </a:r>
            <a:endParaRPr lang="en-US" sz="1580" dirty="0"/>
          </a:p>
        </p:txBody>
      </p:sp>
      <p:sp>
        <p:nvSpPr>
          <p:cNvPr id="4" name="Text 2"/>
          <p:cNvSpPr/>
          <p:nvPr/>
        </p:nvSpPr>
        <p:spPr>
          <a:xfrm>
            <a:off x="372070" y="479524"/>
            <a:ext cx="9239845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i="1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Path occupies a unique space: simple enough for boardrooms, deep enough for life decisions.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 rot="5400000">
            <a:off x="268337" y="2593925"/>
            <a:ext cx="123258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74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↑  /  SIMPLE ↓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944761" y="695325"/>
            <a:ext cx="3714750" cy="2153454"/>
          </a:xfrm>
          <a:prstGeom prst="rect">
            <a:avLst/>
          </a:prstGeom>
          <a:solidFill>
            <a:srgbClr val="E4ED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b="1" kern="0" spc="59" dirty="0">
                <a:solidFill>
                  <a:srgbClr val="2A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br/>
            <a:r>
              <a:rPr lang="en-US" sz="590" b="1" kern="0" spc="59" dirty="0">
                <a:solidFill>
                  <a:srgbClr val="2A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</a:t>
            </a:r>
            <a:endParaRPr lang="en-US" sz="590" dirty="0"/>
          </a:p>
        </p:txBody>
      </p:sp>
      <p:sp>
        <p:nvSpPr>
          <p:cNvPr id="7" name="Text 5"/>
          <p:cNvSpPr/>
          <p:nvPr/>
        </p:nvSpPr>
        <p:spPr>
          <a:xfrm>
            <a:off x="4659511" y="695325"/>
            <a:ext cx="3714750" cy="2153454"/>
          </a:xfrm>
          <a:prstGeom prst="rect">
            <a:avLst/>
          </a:prstGeom>
          <a:solidFill>
            <a:srgbClr val="E6F3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b="1" kern="0" spc="59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br/>
            <a:r>
              <a:rPr lang="en-US" sz="590" b="1" kern="0" spc="59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HUMAN-CENTERED</a:t>
            </a:r>
            <a:endParaRPr lang="en-US" sz="590" dirty="0"/>
          </a:p>
        </p:txBody>
      </p:sp>
      <p:sp>
        <p:nvSpPr>
          <p:cNvPr id="8" name="Text 6"/>
          <p:cNvSpPr/>
          <p:nvPr/>
        </p:nvSpPr>
        <p:spPr>
          <a:xfrm>
            <a:off x="944761" y="2653010"/>
            <a:ext cx="3714750" cy="2153454"/>
          </a:xfrm>
          <a:prstGeom prst="rect">
            <a:avLst/>
          </a:prstGeom>
          <a:solidFill>
            <a:srgbClr val="EEF2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b="1" kern="0" spc="59" dirty="0">
                <a:solidFill>
                  <a:srgbClr val="2A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br/>
            <a:r>
              <a:rPr lang="en-US" sz="590" b="1" kern="0" spc="59" dirty="0">
                <a:solidFill>
                  <a:srgbClr val="2A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</a:t>
            </a:r>
            <a:endParaRPr lang="en-US" sz="590" dirty="0"/>
          </a:p>
        </p:txBody>
      </p:sp>
      <p:sp>
        <p:nvSpPr>
          <p:cNvPr id="9" name="Text 7"/>
          <p:cNvSpPr/>
          <p:nvPr/>
        </p:nvSpPr>
        <p:spPr>
          <a:xfrm>
            <a:off x="4659511" y="2653010"/>
            <a:ext cx="3714750" cy="2153454"/>
          </a:xfrm>
          <a:prstGeom prst="rect">
            <a:avLst/>
          </a:prstGeom>
          <a:solidFill>
            <a:srgbClr val="E9F5F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b="1" kern="0" spc="59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br/>
            <a:r>
              <a:rPr lang="en-US" sz="590" b="1" kern="0" spc="59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HUMAN-CENTERED</a:t>
            </a:r>
            <a:endParaRPr lang="en-US" sz="590" dirty="0"/>
          </a:p>
        </p:txBody>
      </p:sp>
      <p:sp>
        <p:nvSpPr>
          <p:cNvPr id="10" name="Text 8"/>
          <p:cNvSpPr/>
          <p:nvPr/>
        </p:nvSpPr>
        <p:spPr>
          <a:xfrm>
            <a:off x="944761" y="2646090"/>
            <a:ext cx="7429500" cy="13841"/>
          </a:xfrm>
          <a:prstGeom prst="rect">
            <a:avLst/>
          </a:prstGeom>
          <a:solidFill>
            <a:srgbClr val="B0C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 rot="5400000">
            <a:off x="8315176" y="2614910"/>
            <a:ext cx="66675" cy="76200"/>
          </a:xfrm>
          <a:prstGeom prst="triangle">
            <a:avLst/>
          </a:prstGeom>
          <a:solidFill>
            <a:srgbClr val="B0C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 rot="16200000">
            <a:off x="937171" y="2614910"/>
            <a:ext cx="66675" cy="76200"/>
          </a:xfrm>
          <a:prstGeom prst="triangle">
            <a:avLst/>
          </a:prstGeom>
          <a:solidFill>
            <a:srgbClr val="B0C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52590" y="695325"/>
            <a:ext cx="13841" cy="3915370"/>
          </a:xfrm>
          <a:prstGeom prst="rect">
            <a:avLst/>
          </a:prstGeom>
          <a:solidFill>
            <a:srgbClr val="B0C4D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21411" y="687735"/>
            <a:ext cx="76200" cy="66675"/>
          </a:xfrm>
          <a:prstGeom prst="triangle">
            <a:avLst/>
          </a:prstGeom>
          <a:solidFill>
            <a:srgbClr val="B0C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 rot="10800000">
            <a:off x="4621411" y="4551611"/>
            <a:ext cx="76200" cy="66675"/>
          </a:xfrm>
          <a:prstGeom prst="triangle">
            <a:avLst/>
          </a:prstGeom>
          <a:solidFill>
            <a:srgbClr val="B0C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3286" y="4693295"/>
            <a:ext cx="817245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b="1" kern="0" spc="74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←————————→ HUMAN-CENTERED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2543621" y="1293763"/>
            <a:ext cx="70991" cy="70991"/>
          </a:xfrm>
          <a:prstGeom prst="ellipse">
            <a:avLst/>
          </a:prstGeom>
          <a:solidFill>
            <a:srgbClr val="1A7A8A"/>
          </a:solidFill>
          <a:ln/>
          <a:effectLst>
            <a:outerShdw blurRad="101600" dist="50800" dir="16200000" algn="bl" rotWithShape="0">
              <a:srgbClr val="1A7A8A">
                <a:alpha val="18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244179" y="1386334"/>
            <a:ext cx="683425" cy="119955"/>
          </a:xfrm>
          <a:prstGeom prst="roundRect">
            <a:avLst>
              <a:gd name="adj" fmla="val 17998"/>
            </a:avLst>
          </a:prstGeom>
          <a:solidFill>
            <a:srgbClr val="F4F7FB">
              <a:alpha val="88000"/>
            </a:srgbClr>
          </a:solidFill>
          <a:ln/>
        </p:spPr>
        <p:txBody>
          <a:bodyPr wrap="none" lIns="35560" tIns="7620" rIns="35560" bIns="7620" rtlCol="0" anchor="t"/>
          <a:lstStyle/>
          <a:p>
            <a:pPr marL="0" indent="0" algn="l">
              <a:buNone/>
            </a:pPr>
            <a:r>
              <a:rPr lang="en-US" sz="59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Theory</a:t>
            </a:r>
            <a:endParaRPr lang="en-US" sz="590" dirty="0"/>
          </a:p>
        </p:txBody>
      </p:sp>
      <p:sp>
        <p:nvSpPr>
          <p:cNvPr id="19" name="Text 17"/>
          <p:cNvSpPr/>
          <p:nvPr/>
        </p:nvSpPr>
        <p:spPr>
          <a:xfrm>
            <a:off x="3138115" y="1763613"/>
            <a:ext cx="70991" cy="70991"/>
          </a:xfrm>
          <a:prstGeom prst="ellipse">
            <a:avLst/>
          </a:prstGeom>
          <a:solidFill>
            <a:srgbClr val="1A7A8A"/>
          </a:solidFill>
          <a:ln/>
          <a:effectLst>
            <a:outerShdw blurRad="101600" dist="50800" dir="16200000" algn="bl" rotWithShape="0">
              <a:srgbClr val="1A7A8A">
                <a:alpha val="18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025899" y="1856184"/>
            <a:ext cx="301332" cy="119955"/>
          </a:xfrm>
          <a:prstGeom prst="roundRect">
            <a:avLst>
              <a:gd name="adj" fmla="val 17998"/>
            </a:avLst>
          </a:prstGeom>
          <a:solidFill>
            <a:srgbClr val="F4F7FB">
              <a:alpha val="88000"/>
            </a:srgbClr>
          </a:solidFill>
          <a:ln/>
        </p:spPr>
        <p:txBody>
          <a:bodyPr wrap="none" lIns="35560" tIns="7620" rIns="35560" bIns="7620" rtlCol="0" anchor="t"/>
          <a:lstStyle/>
          <a:p>
            <a:pPr marL="0" indent="0" algn="l">
              <a:buNone/>
            </a:pPr>
            <a:r>
              <a:rPr lang="en-US" sz="59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MCDA</a:t>
            </a:r>
            <a:endParaRPr lang="en-US" sz="590" dirty="0"/>
          </a:p>
        </p:txBody>
      </p:sp>
      <p:sp>
        <p:nvSpPr>
          <p:cNvPr id="21" name="Text 19"/>
          <p:cNvSpPr/>
          <p:nvPr/>
        </p:nvSpPr>
        <p:spPr>
          <a:xfrm>
            <a:off x="2172146" y="2233464"/>
            <a:ext cx="70991" cy="70991"/>
          </a:xfrm>
          <a:prstGeom prst="ellipse">
            <a:avLst/>
          </a:prstGeom>
          <a:solidFill>
            <a:srgbClr val="1A7A8A"/>
          </a:solidFill>
          <a:ln/>
          <a:effectLst>
            <a:outerShdw blurRad="101600" dist="50800" dir="16200000" algn="bl" rotWithShape="0">
              <a:srgbClr val="1A7A8A">
                <a:alpha val="18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093268" y="2326035"/>
            <a:ext cx="233476" cy="119955"/>
          </a:xfrm>
          <a:prstGeom prst="roundRect">
            <a:avLst>
              <a:gd name="adj" fmla="val 17998"/>
            </a:avLst>
          </a:prstGeom>
          <a:solidFill>
            <a:srgbClr val="F4F7FB">
              <a:alpha val="88000"/>
            </a:srgbClr>
          </a:solidFill>
          <a:ln/>
        </p:spPr>
        <p:txBody>
          <a:bodyPr wrap="none" lIns="35560" tIns="7620" rIns="35560" bIns="7620" rtlCol="0" anchor="t"/>
          <a:lstStyle/>
          <a:p>
            <a:pPr marL="0" indent="0" algn="l">
              <a:buNone/>
            </a:pPr>
            <a:r>
              <a:rPr lang="en-US" sz="59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</a:t>
            </a:r>
            <a:endParaRPr lang="en-US" sz="590" dirty="0"/>
          </a:p>
        </p:txBody>
      </p:sp>
      <p:sp>
        <p:nvSpPr>
          <p:cNvPr id="23" name="Text 21"/>
          <p:cNvSpPr/>
          <p:nvPr/>
        </p:nvSpPr>
        <p:spPr>
          <a:xfrm>
            <a:off x="6555656" y="1372046"/>
            <a:ext cx="70991" cy="70991"/>
          </a:xfrm>
          <a:prstGeom prst="ellipse">
            <a:avLst/>
          </a:prstGeom>
          <a:solidFill>
            <a:srgbClr val="1A7A8A"/>
          </a:solidFill>
          <a:ln/>
          <a:effectLst>
            <a:outerShdw blurRad="101600" dist="50800" dir="16200000" algn="bl" rotWithShape="0">
              <a:srgbClr val="1A7A8A">
                <a:alpha val="18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18436" y="1464618"/>
            <a:ext cx="352339" cy="119955"/>
          </a:xfrm>
          <a:prstGeom prst="roundRect">
            <a:avLst>
              <a:gd name="adj" fmla="val 17998"/>
            </a:avLst>
          </a:prstGeom>
          <a:solidFill>
            <a:srgbClr val="F4F7FB">
              <a:alpha val="88000"/>
            </a:srgbClr>
          </a:solidFill>
          <a:ln/>
        </p:spPr>
        <p:txBody>
          <a:bodyPr wrap="none" lIns="35560" tIns="7620" rIns="35560" bIns="7620" rtlCol="0" anchor="t"/>
          <a:lstStyle/>
          <a:p>
            <a:pPr marL="0" indent="0" algn="l">
              <a:buNone/>
            </a:pPr>
            <a:r>
              <a:rPr lang="en-US" sz="59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Cynefin</a:t>
            </a:r>
            <a:endParaRPr lang="en-US" sz="590" dirty="0"/>
          </a:p>
        </p:txBody>
      </p:sp>
      <p:sp>
        <p:nvSpPr>
          <p:cNvPr id="25" name="Text 23"/>
          <p:cNvSpPr/>
          <p:nvPr/>
        </p:nvSpPr>
        <p:spPr>
          <a:xfrm>
            <a:off x="5812706" y="1998464"/>
            <a:ext cx="70991" cy="70991"/>
          </a:xfrm>
          <a:prstGeom prst="ellipse">
            <a:avLst/>
          </a:prstGeom>
          <a:solidFill>
            <a:srgbClr val="1A7A8A"/>
          </a:solidFill>
          <a:ln/>
          <a:effectLst>
            <a:outerShdw blurRad="101600" dist="50800" dir="16200000" algn="bl" rotWithShape="0">
              <a:srgbClr val="1A7A8A">
                <a:alpha val="18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98678" y="2091035"/>
            <a:ext cx="713027" cy="119955"/>
          </a:xfrm>
          <a:prstGeom prst="roundRect">
            <a:avLst>
              <a:gd name="adj" fmla="val 17998"/>
            </a:avLst>
          </a:prstGeom>
          <a:solidFill>
            <a:srgbClr val="F4F7FB">
              <a:alpha val="88000"/>
            </a:srgbClr>
          </a:solidFill>
          <a:ln/>
        </p:spPr>
        <p:txBody>
          <a:bodyPr wrap="none" lIns="35560" tIns="7620" rIns="35560" bIns="7620" rtlCol="0" anchor="t"/>
          <a:lstStyle/>
          <a:p>
            <a:pPr marL="0" indent="0" algn="l">
              <a:buNone/>
            </a:pPr>
            <a:r>
              <a:rPr lang="en-US" sz="59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Thinking Hats</a:t>
            </a:r>
            <a:endParaRPr lang="en-US" sz="590" dirty="0"/>
          </a:p>
        </p:txBody>
      </p:sp>
      <p:sp>
        <p:nvSpPr>
          <p:cNvPr id="27" name="Text 25"/>
          <p:cNvSpPr/>
          <p:nvPr/>
        </p:nvSpPr>
        <p:spPr>
          <a:xfrm>
            <a:off x="2395091" y="3251448"/>
            <a:ext cx="70991" cy="70991"/>
          </a:xfrm>
          <a:prstGeom prst="ellipse">
            <a:avLst/>
          </a:prstGeom>
          <a:solidFill>
            <a:srgbClr val="1A7A8A"/>
          </a:solidFill>
          <a:ln/>
          <a:effectLst>
            <a:outerShdw blurRad="101600" dist="50800" dir="16200000" algn="bl" rotWithShape="0">
              <a:srgbClr val="1A7A8A">
                <a:alpha val="18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118568" y="3344019"/>
            <a:ext cx="636669" cy="119955"/>
          </a:xfrm>
          <a:prstGeom prst="roundRect">
            <a:avLst>
              <a:gd name="adj" fmla="val 17998"/>
            </a:avLst>
          </a:prstGeom>
          <a:solidFill>
            <a:srgbClr val="F4F7FB">
              <a:alpha val="88000"/>
            </a:srgbClr>
          </a:solidFill>
          <a:ln/>
        </p:spPr>
        <p:txBody>
          <a:bodyPr wrap="none" lIns="35560" tIns="7620" rIns="35560" bIns="7620" rtlCol="0" anchor="t"/>
          <a:lstStyle/>
          <a:p>
            <a:pPr marL="0" indent="0" algn="l">
              <a:buNone/>
            </a:pPr>
            <a:r>
              <a:rPr lang="en-US" sz="59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Matrix</a:t>
            </a:r>
            <a:endParaRPr lang="en-US" sz="590" dirty="0"/>
          </a:p>
        </p:txBody>
      </p:sp>
      <p:sp>
        <p:nvSpPr>
          <p:cNvPr id="29" name="Text 27"/>
          <p:cNvSpPr/>
          <p:nvPr/>
        </p:nvSpPr>
        <p:spPr>
          <a:xfrm>
            <a:off x="3212381" y="3721298"/>
            <a:ext cx="70991" cy="70991"/>
          </a:xfrm>
          <a:prstGeom prst="ellipse">
            <a:avLst/>
          </a:prstGeom>
          <a:solidFill>
            <a:srgbClr val="1A7A8A"/>
          </a:solidFill>
          <a:ln/>
          <a:effectLst>
            <a:outerShdw blurRad="101600" dist="50800" dir="16200000" algn="bl" rotWithShape="0">
              <a:srgbClr val="1A7A8A">
                <a:alpha val="18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989883" y="3813870"/>
            <a:ext cx="526307" cy="119955"/>
          </a:xfrm>
          <a:prstGeom prst="roundRect">
            <a:avLst>
              <a:gd name="adj" fmla="val 17998"/>
            </a:avLst>
          </a:prstGeom>
          <a:solidFill>
            <a:srgbClr val="F4F7FB">
              <a:alpha val="88000"/>
            </a:srgbClr>
          </a:solidFill>
          <a:ln/>
        </p:spPr>
        <p:txBody>
          <a:bodyPr wrap="none" lIns="35560" tIns="7620" rIns="35560" bIns="7620" rtlCol="0" anchor="t"/>
          <a:lstStyle/>
          <a:p>
            <a:pPr marL="0" indent="0" algn="l">
              <a:buNone/>
            </a:pPr>
            <a:r>
              <a:rPr lang="en-US" sz="59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Cost-Benefit</a:t>
            </a:r>
            <a:endParaRPr lang="en-US" sz="590" dirty="0"/>
          </a:p>
        </p:txBody>
      </p:sp>
      <p:sp>
        <p:nvSpPr>
          <p:cNvPr id="31" name="Text 29"/>
          <p:cNvSpPr/>
          <p:nvPr/>
        </p:nvSpPr>
        <p:spPr>
          <a:xfrm>
            <a:off x="6332711" y="3329732"/>
            <a:ext cx="70991" cy="70991"/>
          </a:xfrm>
          <a:prstGeom prst="ellipse">
            <a:avLst/>
          </a:prstGeom>
          <a:solidFill>
            <a:srgbClr val="1A7A8A"/>
          </a:solidFill>
          <a:ln/>
          <a:effectLst>
            <a:outerShdw blurRad="101600" dist="50800" dir="16200000" algn="bl" rotWithShape="0">
              <a:srgbClr val="1A7A8A">
                <a:alpha val="18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20495" y="3422303"/>
            <a:ext cx="301332" cy="119955"/>
          </a:xfrm>
          <a:prstGeom prst="roundRect">
            <a:avLst>
              <a:gd name="adj" fmla="val 17998"/>
            </a:avLst>
          </a:prstGeom>
          <a:solidFill>
            <a:srgbClr val="F4F7FB">
              <a:alpha val="88000"/>
            </a:srgbClr>
          </a:solidFill>
          <a:ln/>
        </p:spPr>
        <p:txBody>
          <a:bodyPr wrap="none" lIns="35560" tIns="7620" rIns="35560" bIns="7620" rtlCol="0" anchor="t"/>
          <a:lstStyle/>
          <a:p>
            <a:pPr marL="0" indent="0" algn="l">
              <a:buNone/>
            </a:pPr>
            <a:r>
              <a:rPr lang="en-US" sz="59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</a:t>
            </a:r>
            <a:endParaRPr lang="en-US" sz="590" dirty="0"/>
          </a:p>
        </p:txBody>
      </p:sp>
      <p:sp>
        <p:nvSpPr>
          <p:cNvPr id="33" name="Text 31"/>
          <p:cNvSpPr/>
          <p:nvPr/>
        </p:nvSpPr>
        <p:spPr>
          <a:xfrm>
            <a:off x="7001321" y="3799582"/>
            <a:ext cx="70991" cy="70991"/>
          </a:xfrm>
          <a:prstGeom prst="ellipse">
            <a:avLst/>
          </a:prstGeom>
          <a:solidFill>
            <a:srgbClr val="1A7A8A"/>
          </a:solidFill>
          <a:ln/>
          <a:effectLst>
            <a:outerShdw blurRad="101600" dist="50800" dir="16200000" algn="bl" rotWithShape="0">
              <a:srgbClr val="1A7A8A">
                <a:alpha val="18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89105" y="3892153"/>
            <a:ext cx="301484" cy="119955"/>
          </a:xfrm>
          <a:prstGeom prst="roundRect">
            <a:avLst>
              <a:gd name="adj" fmla="val 17998"/>
            </a:avLst>
          </a:prstGeom>
          <a:solidFill>
            <a:srgbClr val="F4F7FB">
              <a:alpha val="88000"/>
            </a:srgbClr>
          </a:solidFill>
          <a:ln/>
        </p:spPr>
        <p:txBody>
          <a:bodyPr wrap="none" lIns="35560" tIns="7620" rIns="35560" bIns="7620" rtlCol="0" anchor="t"/>
          <a:lstStyle/>
          <a:p>
            <a:pPr marL="0" indent="0" algn="l">
              <a:buNone/>
            </a:pPr>
            <a:r>
              <a:rPr lang="en-US" sz="59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OODA</a:t>
            </a:r>
            <a:endParaRPr lang="en-US" sz="59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4287" y="2575024"/>
            <a:ext cx="224730" cy="22473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4902919" y="2828925"/>
            <a:ext cx="1170566" cy="201216"/>
          </a:xfrm>
          <a:prstGeom prst="roundRect">
            <a:avLst>
              <a:gd name="adj" fmla="val 17673"/>
            </a:avLst>
          </a:prstGeom>
          <a:solidFill>
            <a:srgbClr val="0D1B2A">
              <a:alpha val="92000"/>
            </a:srgbClr>
          </a:solidFill>
          <a:ln w="9525">
            <a:solidFill>
              <a:srgbClr val="E8A427"/>
            </a:solidFill>
          </a:ln>
        </p:spPr>
        <p:txBody>
          <a:bodyPr wrap="none" lIns="64770" tIns="21590" rIns="64770" bIns="21590" rtlCol="0" anchor="t"/>
          <a:lstStyle/>
          <a:p>
            <a:pPr marL="0" indent="0" algn="l">
              <a:buNone/>
            </a:pPr>
            <a:r>
              <a:rPr lang="en-US" sz="730" b="1" kern="0" spc="29" dirty="0">
                <a:solidFill>
                  <a:srgbClr val="E8A4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★ THE BINARY PATH</a:t>
            </a:r>
            <a:endParaRPr lang="en-US" sz="730" dirty="0"/>
          </a:p>
        </p:txBody>
      </p:sp>
      <p:sp>
        <p:nvSpPr>
          <p:cNvPr id="37" name="Text 34"/>
          <p:cNvSpPr/>
          <p:nvPr/>
        </p:nvSpPr>
        <p:spPr>
          <a:xfrm>
            <a:off x="4742929" y="3059311"/>
            <a:ext cx="1467594" cy="226260"/>
          </a:xfrm>
          <a:prstGeom prst="roundRect">
            <a:avLst>
              <a:gd name="adj" fmla="val 12910"/>
            </a:avLst>
          </a:prstGeom>
          <a:solidFill>
            <a:srgbClr val="FFFFFF">
              <a:alpha val="92000"/>
            </a:srgbClr>
          </a:solidFill>
          <a:ln/>
          <a:effectLst>
            <a:outerShdw blurRad="57150" dist="13970" dir="5400000" algn="bl" rotWithShape="0">
              <a:srgbClr val="0D1B2A">
                <a:alpha val="10000"/>
              </a:srgbClr>
            </a:outerShdw>
          </a:effectLst>
        </p:spPr>
        <p:txBody>
          <a:bodyPr wrap="none" lIns="49530" tIns="13970" rIns="49530" bIns="13970" rtlCol="0" anchor="t"/>
          <a:lstStyle/>
          <a:p>
            <a:pPr marL="0" indent="0" algn="ctr">
              <a:buNone/>
            </a:pPr>
            <a:r>
              <a:rPr lang="en-US" sz="5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intersection: Simple structure+ Human consensus + Analytical weighting</a:t>
            </a:r>
            <a:endParaRPr lang="en-US" sz="560" dirty="0"/>
          </a:p>
        </p:txBody>
      </p:sp>
      <p:sp>
        <p:nvSpPr>
          <p:cNvPr id="38" name="Text 35"/>
          <p:cNvSpPr/>
          <p:nvPr/>
        </p:nvSpPr>
        <p:spPr>
          <a:xfrm>
            <a:off x="4742929" y="3059311"/>
            <a:ext cx="19050" cy="219670"/>
          </a:xfrm>
          <a:custGeom>
            <a:avLst/>
            <a:gdLst/>
            <a:ahLst/>
            <a:cxnLst/>
            <a:rect l="l" t="t" r="r" b="b"/>
            <a:pathLst>
              <a:path w="19050" h="219670">
                <a:moveTo>
                  <a:pt x="0" y="29210"/>
                </a:moveTo>
                <a:lnTo>
                  <a:pt x="2381" y="17658"/>
                </a:lnTo>
                <a:lnTo>
                  <a:pt x="4763" y="13224"/>
                </a:lnTo>
                <a:lnTo>
                  <a:pt x="7144" y="10071"/>
                </a:lnTo>
                <a:lnTo>
                  <a:pt x="9525" y="7629"/>
                </a:lnTo>
                <a:lnTo>
                  <a:pt x="11906" y="5677"/>
                </a:lnTo>
                <a:lnTo>
                  <a:pt x="14288" y="4099"/>
                </a:lnTo>
                <a:lnTo>
                  <a:pt x="16669" y="2829"/>
                </a:lnTo>
                <a:lnTo>
                  <a:pt x="19050" y="1824"/>
                </a:lnTo>
                <a:lnTo>
                  <a:pt x="19050" y="217846"/>
                </a:lnTo>
                <a:lnTo>
                  <a:pt x="16669" y="216841"/>
                </a:lnTo>
                <a:lnTo>
                  <a:pt x="14288" y="215571"/>
                </a:lnTo>
                <a:lnTo>
                  <a:pt x="11906" y="213993"/>
                </a:lnTo>
                <a:lnTo>
                  <a:pt x="9525" y="212041"/>
                </a:lnTo>
                <a:lnTo>
                  <a:pt x="7144" y="209599"/>
                </a:lnTo>
                <a:lnTo>
                  <a:pt x="4763" y="206446"/>
                </a:lnTo>
                <a:lnTo>
                  <a:pt x="2381" y="202012"/>
                </a:lnTo>
                <a:lnTo>
                  <a:pt x="0" y="190460"/>
                </a:lnTo>
                <a:close/>
              </a:path>
            </a:pathLst>
          </a:custGeom>
          <a:solidFill>
            <a:srgbClr val="E8A42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722269" y="4450110"/>
            <a:ext cx="64740" cy="64740"/>
          </a:xfrm>
          <a:prstGeom prst="ellipse">
            <a:avLst/>
          </a:prstGeom>
          <a:solidFill>
            <a:srgbClr val="1A7A8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6822430" y="4429125"/>
            <a:ext cx="71181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560" dirty="0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8532" y="4416260"/>
            <a:ext cx="132588" cy="132588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7747397" y="4429125"/>
            <a:ext cx="59459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Path</a:t>
            </a:r>
            <a:endParaRPr lang="en-US" sz="5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2A7A8C">
                  <a:alpha val="10000"/>
                </a:srgbClr>
              </a:gs>
              <a:gs pos="55000">
                <a:srgbClr val="000000">
                  <a:alpha val="0"/>
                </a:srgbClr>
              </a:gs>
            </a:gsLst>
            <a:path path="circle">
              <a:fillToRect l="95000" t="50000" r="5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427">
                  <a:alpha val="7000"/>
                </a:srgbClr>
              </a:gs>
              <a:gs pos="45000">
                <a:srgbClr val="000000">
                  <a:alpha val="0"/>
                </a:srgbClr>
              </a:gs>
            </a:gsLst>
            <a:path path="circle">
              <a:fillToRect l="5000" t="80000" r="95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3160" cy="5143500"/>
          </a:xfrm>
          <a:prstGeom prst="rect">
            <a:avLst/>
          </a:prstGeom>
          <a:gradFill rotWithShape="1">
            <a:gsLst>
              <a:gs pos="0">
                <a:srgbClr val="E8A427"/>
              </a:gs>
              <a:gs pos="100000">
                <a:srgbClr val="3AB0C8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60" y="648295"/>
            <a:ext cx="9100840" cy="9525"/>
          </a:xfrm>
          <a:prstGeom prst="rect">
            <a:avLst/>
          </a:prstGeom>
          <a:solidFill>
            <a:srgbClr val="3AB0C8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5230" y="188268"/>
            <a:ext cx="271760" cy="271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5132" y="144066"/>
            <a:ext cx="336573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200" dirty="0">
                <a:solidFill>
                  <a:srgbClr val="E8A4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620" dirty="0"/>
          </a:p>
        </p:txBody>
      </p:sp>
      <p:sp>
        <p:nvSpPr>
          <p:cNvPr id="8" name="Text 5"/>
          <p:cNvSpPr/>
          <p:nvPr/>
        </p:nvSpPr>
        <p:spPr>
          <a:xfrm>
            <a:off x="815132" y="283666"/>
            <a:ext cx="3273940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38"/>
              </a:lnSpc>
              <a:buNone/>
            </a:pPr>
            <a:r>
              <a:rPr lang="en-US" sz="1580" kern="0" spc="3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</a:t>
            </a:r>
            <a:r>
              <a:rPr lang="en-US" sz="1580" b="1" kern="0" spc="30" dirty="0">
                <a:solidFill>
                  <a:srgbClr val="E8A4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Binary Path</a:t>
            </a:r>
            <a:r>
              <a:rPr lang="en-US" sz="1580" kern="0" spc="3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In a Nutshell</a:t>
            </a:r>
            <a:endParaRPr lang="en-US" sz="1580" dirty="0"/>
          </a:p>
        </p:txBody>
      </p:sp>
      <p:sp>
        <p:nvSpPr>
          <p:cNvPr id="9" name="Text 6"/>
          <p:cNvSpPr/>
          <p:nvPr/>
        </p:nvSpPr>
        <p:spPr>
          <a:xfrm>
            <a:off x="415230" y="886271"/>
            <a:ext cx="314920" cy="346412"/>
          </a:xfrm>
          <a:prstGeom prst="ellipse">
            <a:avLst/>
          </a:prstGeom>
          <a:solidFill>
            <a:srgbClr val="E8A427"/>
          </a:solidFill>
          <a:ln/>
          <a:effectLst>
            <a:outerShdw blurRad="100330" dist="50800" dir="16200000" algn="bl" rotWithShape="0">
              <a:srgbClr val="E8A427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130" dirty="0"/>
          </a:p>
        </p:txBody>
      </p:sp>
      <p:sp>
        <p:nvSpPr>
          <p:cNvPr id="10" name="Text 7"/>
          <p:cNvSpPr/>
          <p:nvPr/>
        </p:nvSpPr>
        <p:spPr>
          <a:xfrm>
            <a:off x="887611" y="888057"/>
            <a:ext cx="824824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10" dirty="0">
                <a:solidFill>
                  <a:srgbClr val="3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TWO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887611" y="1031379"/>
            <a:ext cx="82482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23"/>
              </a:lnSpc>
              <a:buNone/>
            </a:pPr>
            <a:r>
              <a:rPr lang="en-US" sz="9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goal has exactly </a:t>
            </a:r>
            <a:r>
              <a:rPr lang="en-US" sz="980" b="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contributors</a:t>
            </a:r>
            <a:r>
              <a:rPr lang="en-US" sz="9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If there are more elements, group them into two meaningful higher-order categories.</a:t>
            </a:r>
            <a:endParaRPr lang="en-US" sz="98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alphaModFix amt="5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4159" y="914846"/>
            <a:ext cx="257770" cy="25777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5230" y="1401812"/>
            <a:ext cx="314920" cy="346412"/>
          </a:xfrm>
          <a:prstGeom prst="ellipse">
            <a:avLst/>
          </a:prstGeom>
          <a:solidFill>
            <a:srgbClr val="E8A427"/>
          </a:solidFill>
          <a:ln/>
          <a:effectLst>
            <a:outerShdw blurRad="100330" dist="50800" dir="16200000" algn="bl" rotWithShape="0">
              <a:srgbClr val="E8A427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130" dirty="0"/>
          </a:p>
        </p:txBody>
      </p:sp>
      <p:sp>
        <p:nvSpPr>
          <p:cNvPr id="14" name="Text 10"/>
          <p:cNvSpPr/>
          <p:nvPr/>
        </p:nvSpPr>
        <p:spPr>
          <a:xfrm>
            <a:off x="887611" y="1403598"/>
            <a:ext cx="824824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10" dirty="0">
                <a:solidFill>
                  <a:srgbClr val="3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IMPACT</a:t>
            </a:r>
            <a:endParaRPr lang="en-US" sz="680" dirty="0"/>
          </a:p>
        </p:txBody>
      </p:sp>
      <p:sp>
        <p:nvSpPr>
          <p:cNvPr id="15" name="Text 11"/>
          <p:cNvSpPr/>
          <p:nvPr/>
        </p:nvSpPr>
        <p:spPr>
          <a:xfrm>
            <a:off x="887611" y="1546920"/>
            <a:ext cx="82482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23"/>
              </a:lnSpc>
              <a:buNone/>
            </a:pPr>
            <a:r>
              <a:rPr lang="en-US" sz="9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each contributor by </a:t>
            </a:r>
            <a:r>
              <a:rPr lang="en-US" sz="980" b="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impact composite weighted % (1)</a:t>
            </a:r>
            <a:r>
              <a:rPr lang="en-US" sz="9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980" b="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decides together</a:t>
            </a:r>
            <a:r>
              <a:rPr lang="en-US" sz="9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8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alphaModFix amt="5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4159" y="1430387"/>
            <a:ext cx="257770" cy="25777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5230" y="1917353"/>
            <a:ext cx="314920" cy="346412"/>
          </a:xfrm>
          <a:prstGeom prst="ellipse">
            <a:avLst/>
          </a:prstGeom>
          <a:solidFill>
            <a:srgbClr val="E8A427"/>
          </a:solidFill>
          <a:ln/>
          <a:effectLst>
            <a:outerShdw blurRad="100330" dist="50800" dir="16200000" algn="bl" rotWithShape="0">
              <a:srgbClr val="E8A427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130" dirty="0"/>
          </a:p>
        </p:txBody>
      </p:sp>
      <p:sp>
        <p:nvSpPr>
          <p:cNvPr id="18" name="Text 13"/>
          <p:cNvSpPr/>
          <p:nvPr/>
        </p:nvSpPr>
        <p:spPr>
          <a:xfrm>
            <a:off x="887611" y="1919139"/>
            <a:ext cx="824824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10" dirty="0">
                <a:solidFill>
                  <a:srgbClr val="3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DRILL-DOWN</a:t>
            </a:r>
            <a:endParaRPr lang="en-US" sz="680" dirty="0"/>
          </a:p>
        </p:txBody>
      </p:sp>
      <p:sp>
        <p:nvSpPr>
          <p:cNvPr id="19" name="Text 14"/>
          <p:cNvSpPr/>
          <p:nvPr/>
        </p:nvSpPr>
        <p:spPr>
          <a:xfrm>
            <a:off x="887611" y="2062460"/>
            <a:ext cx="82482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23"/>
              </a:lnSpc>
              <a:buNone/>
            </a:pPr>
            <a:r>
              <a:rPr lang="en-US" sz="9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</a:t>
            </a:r>
            <a:r>
              <a:rPr lang="en-US" sz="980" b="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higher-weight branch first</a:t>
            </a:r>
            <a:r>
              <a:rPr lang="en-US" sz="9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Drill down recursively until the path is clear and specific.</a:t>
            </a:r>
            <a:endParaRPr lang="en-US" sz="98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alphaModFix amt="5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14159" y="1945928"/>
            <a:ext cx="257770" cy="25777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15230" y="2432893"/>
            <a:ext cx="314920" cy="346412"/>
          </a:xfrm>
          <a:prstGeom prst="ellipse">
            <a:avLst/>
          </a:prstGeom>
          <a:solidFill>
            <a:srgbClr val="E8A427"/>
          </a:solidFill>
          <a:ln/>
          <a:effectLst>
            <a:outerShdw blurRad="100330" dist="50800" dir="16200000" algn="bl" rotWithShape="0">
              <a:srgbClr val="E8A427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130" dirty="0"/>
          </a:p>
        </p:txBody>
      </p:sp>
      <p:sp>
        <p:nvSpPr>
          <p:cNvPr id="22" name="Text 16"/>
          <p:cNvSpPr/>
          <p:nvPr/>
        </p:nvSpPr>
        <p:spPr>
          <a:xfrm>
            <a:off x="887611" y="2434679"/>
            <a:ext cx="824824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10" dirty="0">
                <a:solidFill>
                  <a:srgbClr val="3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TOOL</a:t>
            </a:r>
            <a:endParaRPr lang="en-US" sz="680" dirty="0"/>
          </a:p>
        </p:txBody>
      </p:sp>
      <p:sp>
        <p:nvSpPr>
          <p:cNvPr id="23" name="Text 17"/>
          <p:cNvSpPr/>
          <p:nvPr/>
        </p:nvSpPr>
        <p:spPr>
          <a:xfrm>
            <a:off x="887611" y="2578001"/>
            <a:ext cx="82482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23"/>
              </a:lnSpc>
              <a:buNone/>
            </a:pPr>
            <a:r>
              <a:rPr lang="en-US" sz="9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Path is a </a:t>
            </a:r>
            <a:r>
              <a:rPr lang="en-US" sz="980" b="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tool</a:t>
            </a:r>
            <a:r>
              <a:rPr lang="en-US" sz="9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creates consensus through </a:t>
            </a:r>
            <a:r>
              <a:rPr lang="en-US" sz="980" b="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r>
              <a:rPr lang="en-US" sz="9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complexity.</a:t>
            </a:r>
            <a:endParaRPr lang="en-US" sz="98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alphaModFix amt="55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14159" y="2461468"/>
            <a:ext cx="257770" cy="25777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15230" y="2948434"/>
            <a:ext cx="314920" cy="346412"/>
          </a:xfrm>
          <a:prstGeom prst="ellipse">
            <a:avLst/>
          </a:prstGeom>
          <a:solidFill>
            <a:srgbClr val="E8A427"/>
          </a:solidFill>
          <a:ln/>
          <a:effectLst>
            <a:outerShdw blurRad="100330" dist="50800" dir="16200000" algn="bl" rotWithShape="0">
              <a:srgbClr val="E8A427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130" dirty="0"/>
          </a:p>
        </p:txBody>
      </p:sp>
      <p:sp>
        <p:nvSpPr>
          <p:cNvPr id="26" name="Text 19"/>
          <p:cNvSpPr/>
          <p:nvPr/>
        </p:nvSpPr>
        <p:spPr>
          <a:xfrm>
            <a:off x="887611" y="2950220"/>
            <a:ext cx="824824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10" dirty="0">
                <a:solidFill>
                  <a:srgbClr val="3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CLARITY, NOT DECISION</a:t>
            </a:r>
            <a:endParaRPr lang="en-US" sz="680" dirty="0"/>
          </a:p>
        </p:txBody>
      </p:sp>
      <p:sp>
        <p:nvSpPr>
          <p:cNvPr id="27" name="Text 20"/>
          <p:cNvSpPr/>
          <p:nvPr/>
        </p:nvSpPr>
        <p:spPr>
          <a:xfrm>
            <a:off x="887611" y="3093541"/>
            <a:ext cx="82482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23"/>
              </a:lnSpc>
              <a:buNone/>
            </a:pPr>
            <a:r>
              <a:rPr lang="en-US" sz="9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decision tool. It is a </a:t>
            </a:r>
            <a:r>
              <a:rPr lang="en-US" sz="980" b="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tool</a:t>
            </a:r>
            <a:r>
              <a:rPr lang="en-US" sz="9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the foundation of a much bigger </a:t>
            </a:r>
            <a:r>
              <a:rPr lang="en-US" sz="980" b="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Compass</a:t>
            </a:r>
            <a:r>
              <a:rPr lang="en-US" sz="9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platform.</a:t>
            </a:r>
            <a:endParaRPr lang="en-US" sz="98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alphaModFix amt="55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14159" y="2977009"/>
            <a:ext cx="257770" cy="25777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076950" y="4925169"/>
            <a:ext cx="302734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100" dirty="0">
                <a:solidFill>
                  <a:srgbClr val="8FAFC8">
                    <a:alpha val="5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BINARY PATH · STRATEGY · CLARITY · CONSENSUS</a:t>
            </a:r>
            <a:endParaRPr lang="en-US" sz="620" dirty="0"/>
          </a:p>
        </p:txBody>
      </p:sp>
      <p:sp>
        <p:nvSpPr>
          <p:cNvPr id="30" name="Text 22"/>
          <p:cNvSpPr/>
          <p:nvPr/>
        </p:nvSpPr>
        <p:spPr>
          <a:xfrm>
            <a:off x="415230" y="1293911"/>
            <a:ext cx="8356702" cy="7590"/>
          </a:xfrm>
          <a:prstGeom prst="rect">
            <a:avLst/>
          </a:prstGeom>
          <a:gradFill rotWithShape="1">
            <a:gsLst>
              <a:gs pos="0">
                <a:srgbClr val="2A7A8C">
                  <a:alpha val="55000"/>
                </a:srgbClr>
              </a:gs>
              <a:gs pos="100000">
                <a:srgbClr val="2A7A8C">
                  <a:alpha val="8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415230" y="1809452"/>
            <a:ext cx="8356702" cy="7590"/>
          </a:xfrm>
          <a:prstGeom prst="rect">
            <a:avLst/>
          </a:prstGeom>
          <a:gradFill rotWithShape="1">
            <a:gsLst>
              <a:gs pos="0">
                <a:srgbClr val="2A7A8C">
                  <a:alpha val="55000"/>
                </a:srgbClr>
              </a:gs>
              <a:gs pos="100000">
                <a:srgbClr val="2A7A8C">
                  <a:alpha val="8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415230" y="2324993"/>
            <a:ext cx="8356702" cy="7590"/>
          </a:xfrm>
          <a:prstGeom prst="rect">
            <a:avLst/>
          </a:prstGeom>
          <a:gradFill rotWithShape="1">
            <a:gsLst>
              <a:gs pos="0">
                <a:srgbClr val="2A7A8C">
                  <a:alpha val="55000"/>
                </a:srgbClr>
              </a:gs>
              <a:gs pos="100000">
                <a:srgbClr val="2A7A8C">
                  <a:alpha val="8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415230" y="2840533"/>
            <a:ext cx="8356702" cy="7590"/>
          </a:xfrm>
          <a:prstGeom prst="rect">
            <a:avLst/>
          </a:prstGeom>
          <a:gradFill rotWithShape="1">
            <a:gsLst>
              <a:gs pos="0">
                <a:srgbClr val="2A7A8C">
                  <a:alpha val="55000"/>
                </a:srgbClr>
              </a:gs>
              <a:gs pos="100000">
                <a:srgbClr val="2A7A8C">
                  <a:alpha val="8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F2BCCB9B-F7F7-C35C-BED7-5CA7FE7AF589}"/>
              </a:ext>
            </a:extLst>
          </p:cNvPr>
          <p:cNvSpPr/>
          <p:nvPr/>
        </p:nvSpPr>
        <p:spPr>
          <a:xfrm>
            <a:off x="815132" y="4343995"/>
            <a:ext cx="82482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23"/>
              </a:lnSpc>
              <a:buNone/>
            </a:pPr>
            <a:r>
              <a:rPr lang="en-US" sz="9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</a:t>
            </a:r>
            <a:r>
              <a:rPr lang="en-US" sz="980" b="1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weight % for ratings on several dimensions: e.g. Strategic value, Ease, Risk, Cost, Time …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571750" cy="2571750"/>
          </a:xfrm>
          <a:prstGeom prst="rect">
            <a:avLst/>
          </a:prstGeom>
          <a:gradFill rotWithShape="1">
            <a:gsLst>
              <a:gs pos="0">
                <a:srgbClr val="1A3A5C">
                  <a:alpha val="5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14530" y="2714030"/>
            <a:ext cx="2429470" cy="2429470"/>
          </a:xfrm>
          <a:prstGeom prst="rect">
            <a:avLst/>
          </a:prstGeom>
          <a:gradFill rotWithShape="1">
            <a:gsLst>
              <a:gs pos="0">
                <a:srgbClr val="E8A427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71390" y="1357015"/>
            <a:ext cx="5001220" cy="2429470"/>
          </a:xfrm>
          <a:prstGeom prst="rect">
            <a:avLst/>
          </a:prstGeom>
          <a:gradFill rotWithShape="1">
            <a:gsLst>
              <a:gs pos="0">
                <a:srgbClr val="1A3A5C">
                  <a:alpha val="3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E8A427"/>
              </a:gs>
              <a:gs pos="75000">
                <a:srgbClr val="E8A427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7770" y="4657130"/>
            <a:ext cx="9525" cy="228600"/>
          </a:xfrm>
          <a:prstGeom prst="rect">
            <a:avLst/>
          </a:prstGeom>
          <a:solidFill>
            <a:srgbClr val="E8A427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76705" y="4657130"/>
            <a:ext cx="9525" cy="228600"/>
          </a:xfrm>
          <a:prstGeom prst="rect">
            <a:avLst/>
          </a:prstGeom>
          <a:solidFill>
            <a:srgbClr val="E8A427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72245" y="1155353"/>
            <a:ext cx="5741253" cy="936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5400" dirty="0">
                <a:solidFill>
                  <a:srgbClr val="E8A427">
                    <a:alpha val="1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686497" y="1269653"/>
            <a:ext cx="5771007" cy="755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32"/>
              </a:lnSpc>
              <a:buNone/>
            </a:pPr>
            <a:r>
              <a:rPr lang="en-US" sz="2360" kern="0" spc="-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compass does not tell you exactly where to go.</a:t>
            </a:r>
            <a:endParaRPr lang="en-US" sz="2360" dirty="0"/>
          </a:p>
        </p:txBody>
      </p:sp>
      <p:sp>
        <p:nvSpPr>
          <p:cNvPr id="10" name="Text 8"/>
          <p:cNvSpPr/>
          <p:nvPr/>
        </p:nvSpPr>
        <p:spPr>
          <a:xfrm>
            <a:off x="1601629" y="2103090"/>
            <a:ext cx="5940743" cy="377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76"/>
              </a:lnSpc>
              <a:buNone/>
            </a:pPr>
            <a:r>
              <a:rPr lang="en-US" sz="2480" b="1" kern="0" spc="-20" dirty="0">
                <a:solidFill>
                  <a:srgbClr val="E8A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you your direction.</a:t>
            </a:r>
            <a:endParaRPr lang="en-US" sz="2480" dirty="0"/>
          </a:p>
        </p:txBody>
      </p:sp>
      <p:sp>
        <p:nvSpPr>
          <p:cNvPr id="11" name="Text 9"/>
          <p:cNvSpPr/>
          <p:nvPr/>
        </p:nvSpPr>
        <p:spPr>
          <a:xfrm>
            <a:off x="1630501" y="2892445"/>
            <a:ext cx="5741253" cy="936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60"/>
              </a:lnSpc>
              <a:buNone/>
            </a:pPr>
            <a:r>
              <a:rPr lang="en-US" sz="5400" dirty="0">
                <a:solidFill>
                  <a:srgbClr val="E8A427">
                    <a:alpha val="1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”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971733" y="2798415"/>
            <a:ext cx="320038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95"/>
              </a:lnSpc>
              <a:buNone/>
            </a:pPr>
            <a:r>
              <a:rPr lang="en-US" sz="1130" kern="0" spc="3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People still choose.  That is the philosophy.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2571750" y="3214241"/>
            <a:ext cx="4000500" cy="1012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E8A427"/>
              </a:gs>
              <a:gs pos="80000">
                <a:srgbClr val="E8A42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67238" y="3424982"/>
            <a:ext cx="9525" cy="566291"/>
          </a:xfrm>
          <a:prstGeom prst="rect">
            <a:avLst/>
          </a:prstGeom>
          <a:solidFill>
            <a:srgbClr val="8FAFC8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13703" y="3439010"/>
            <a:ext cx="1380247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kern="0" spc="3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Decision  Path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2286000" y="3690342"/>
            <a:ext cx="1977104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kern="0" spc="110" dirty="0">
                <a:solidFill>
                  <a:srgbClr val="8F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STRATEGY · CLARITY · CONSENSUS</a:t>
            </a:r>
            <a:endParaRPr lang="en-US" sz="790" dirty="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41093" y="3325188"/>
            <a:ext cx="639712" cy="63971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183949" y="4191893"/>
            <a:ext cx="477610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kern="0" spc="3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AI-Assisted Decision Intelligence Platform — Built on a Framework Developed by </a:t>
            </a:r>
            <a:r>
              <a:rPr lang="en-US" sz="730" kern="0" spc="30" dirty="0" err="1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TranZen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1409</Words>
  <Application>Microsoft Office PowerPoint</Application>
  <PresentationFormat>On-screen Show (16:9)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Viet Tran</cp:lastModifiedBy>
  <cp:revision>8</cp:revision>
  <dcterms:created xsi:type="dcterms:W3CDTF">2026-07-26T20:43:51Z</dcterms:created>
  <dcterms:modified xsi:type="dcterms:W3CDTF">2026-09-04T21:12:38Z</dcterms:modified>
</cp:coreProperties>
</file>